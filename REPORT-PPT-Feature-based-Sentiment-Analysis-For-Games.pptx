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6858000" cy="9144000"/>
  <p:embeddedFontLst>
    <p:embeddedFont>
      <p:font typeface="Lato" panose="020F0502020204030203" pitchFamily="34" charset="0"/>
      <p:regular r:id="rId18"/>
      <p:bold r:id="rId19"/>
      <p:italic r:id="rId20"/>
      <p:boldItalic r:id="rId21"/>
    </p:embeddedFont>
    <p:embeddedFont>
      <p:font typeface="Raleway" pitchFamily="2" charset="0"/>
      <p:regular r:id="rId22"/>
      <p:bold r:id="rId23"/>
      <p:italic r:id="rId24"/>
      <p:boldItalic r:id="rId25"/>
    </p:embeddedFont>
    <p:embeddedFont>
      <p:font typeface="Roboto Mono" panose="00000009000000000000" pitchFamily="49"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5cbbe73c8c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5cbbe73c8c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a314dfa2e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a314dfa2e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5a314dfa2e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5a314dfa2e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a314dfa2e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a314dfa2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a314dfa2e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a314dfa2e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a314dfa2e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a314dfa2e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a314dfa2e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a314dfa2e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5a314dfa2e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5a314dfa2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a314dfa2e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a314dfa2e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cbbe73c8c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cbbe73c8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5a314dfa2e_3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5a314dfa2e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a314dfa2e_3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5a314dfa2e_3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a314dfa2e_3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a314dfa2e_3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a314dfa2e_3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5a314dfa2e_3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dirty="0">
                <a:latin typeface="Arial"/>
                <a:ea typeface="Arial"/>
                <a:cs typeface="Arial"/>
                <a:sym typeface="Arial"/>
              </a:rPr>
              <a:t>Feature-based Sentiment Analysis For Games </a:t>
            </a:r>
            <a:endParaRPr dirty="0">
              <a:latin typeface="Arial"/>
              <a:ea typeface="Arial"/>
              <a:cs typeface="Arial"/>
              <a:sym typeface="Arial"/>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dirty="0">
                <a:solidFill>
                  <a:schemeClr val="dk2"/>
                </a:solidFill>
                <a:latin typeface="Arial"/>
                <a:ea typeface="Arial"/>
                <a:cs typeface="Arial"/>
                <a:sym typeface="Arial"/>
              </a:rPr>
              <a:t>Demba SOW</a:t>
            </a:r>
            <a:endParaRPr dirty="0">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637200" y="6267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t>Abstract</a:t>
            </a:r>
            <a:endParaRPr/>
          </a:p>
        </p:txBody>
      </p:sp>
      <p:sp>
        <p:nvSpPr>
          <p:cNvPr id="99" name="Google Shape;99;p15"/>
          <p:cNvSpPr txBox="1">
            <a:spLocks noGrp="1"/>
          </p:cNvSpPr>
          <p:nvPr>
            <p:ph type="body" idx="1"/>
          </p:nvPr>
        </p:nvSpPr>
        <p:spPr>
          <a:xfrm>
            <a:off x="4420025" y="1023175"/>
            <a:ext cx="4543800" cy="37380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CA" sz="1400">
                <a:solidFill>
                  <a:schemeClr val="dk2"/>
                </a:solidFill>
                <a:latin typeface="Arial"/>
                <a:ea typeface="Arial"/>
                <a:cs typeface="Arial"/>
                <a:sym typeface="Arial"/>
              </a:rPr>
              <a:t>This study focuses on </a:t>
            </a:r>
            <a:r>
              <a:rPr lang="en-CA" sz="1400" b="1">
                <a:solidFill>
                  <a:schemeClr val="dk2"/>
                </a:solidFill>
                <a:latin typeface="Arial"/>
                <a:ea typeface="Arial"/>
                <a:cs typeface="Arial"/>
                <a:sym typeface="Arial"/>
              </a:rPr>
              <a:t>aspect-based sentiment analysis of Turkish user reviews for digital games</a:t>
            </a:r>
            <a:r>
              <a:rPr lang="en-CA" sz="1400">
                <a:solidFill>
                  <a:schemeClr val="dk2"/>
                </a:solidFill>
                <a:latin typeface="Arial"/>
                <a:ea typeface="Arial"/>
                <a:cs typeface="Arial"/>
                <a:sym typeface="Arial"/>
              </a:rPr>
              <a:t>. The </a:t>
            </a:r>
            <a:r>
              <a:rPr lang="en-CA" sz="1400" b="1">
                <a:solidFill>
                  <a:schemeClr val="dk2"/>
                </a:solidFill>
                <a:latin typeface="Arial"/>
                <a:ea typeface="Arial"/>
                <a:cs typeface="Arial"/>
                <a:sym typeface="Arial"/>
              </a:rPr>
              <a:t>goal is to classify sentiments </a:t>
            </a:r>
            <a:r>
              <a:rPr lang="en-CA" sz="1400">
                <a:solidFill>
                  <a:schemeClr val="dk2"/>
                </a:solidFill>
                <a:latin typeface="Arial"/>
                <a:ea typeface="Arial"/>
                <a:cs typeface="Arial"/>
                <a:sym typeface="Arial"/>
              </a:rPr>
              <a:t>(</a:t>
            </a:r>
            <a:r>
              <a:rPr lang="en-CA" sz="1400" b="1">
                <a:solidFill>
                  <a:schemeClr val="dk2"/>
                </a:solidFill>
                <a:latin typeface="Arial"/>
                <a:ea typeface="Arial"/>
                <a:cs typeface="Arial"/>
                <a:sym typeface="Arial"/>
              </a:rPr>
              <a:t>positive/negative/neutral)</a:t>
            </a:r>
            <a:r>
              <a:rPr lang="en-CA" sz="1400">
                <a:solidFill>
                  <a:schemeClr val="dk2"/>
                </a:solidFill>
                <a:latin typeface="Arial"/>
                <a:ea typeface="Arial"/>
                <a:cs typeface="Arial"/>
                <a:sym typeface="Arial"/>
              </a:rPr>
              <a:t> for </a:t>
            </a:r>
            <a:r>
              <a:rPr lang="en-CA" sz="1400" b="1">
                <a:solidFill>
                  <a:schemeClr val="dk2"/>
                </a:solidFill>
                <a:latin typeface="Arial"/>
                <a:ea typeface="Arial"/>
                <a:cs typeface="Arial"/>
                <a:sym typeface="Arial"/>
              </a:rPr>
              <a:t>specific features</a:t>
            </a:r>
            <a:r>
              <a:rPr lang="en-CA" sz="1400">
                <a:solidFill>
                  <a:schemeClr val="dk2"/>
                </a:solidFill>
                <a:latin typeface="Arial"/>
                <a:ea typeface="Arial"/>
                <a:cs typeface="Arial"/>
                <a:sym typeface="Arial"/>
              </a:rPr>
              <a:t> such as </a:t>
            </a:r>
            <a:r>
              <a:rPr lang="en-CA" sz="1400" b="1">
                <a:solidFill>
                  <a:schemeClr val="dk2"/>
                </a:solidFill>
                <a:latin typeface="Arial"/>
                <a:ea typeface="Arial"/>
                <a:cs typeface="Arial"/>
                <a:sym typeface="Arial"/>
              </a:rPr>
              <a:t>graphics, AI, and gameplay</a:t>
            </a:r>
            <a:r>
              <a:rPr lang="en-CA" sz="1400">
                <a:solidFill>
                  <a:schemeClr val="dk2"/>
                </a:solidFill>
                <a:latin typeface="Arial"/>
                <a:ea typeface="Arial"/>
                <a:cs typeface="Arial"/>
                <a:sym typeface="Arial"/>
              </a:rPr>
              <a:t>, even within complex sentences (e.g., “The graphics are good, but the AI is bad”). A language filter ensures only Turkish reviews are analyzed.</a:t>
            </a:r>
            <a:endParaRPr sz="1400">
              <a:solidFill>
                <a:schemeClr val="dk2"/>
              </a:solidFill>
              <a:latin typeface="Arial"/>
              <a:ea typeface="Arial"/>
              <a:cs typeface="Arial"/>
              <a:sym typeface="Arial"/>
            </a:endParaRPr>
          </a:p>
          <a:p>
            <a:pPr marL="0" lvl="0" indent="0" algn="l" rtl="0">
              <a:spcBef>
                <a:spcPts val="1200"/>
              </a:spcBef>
              <a:spcAft>
                <a:spcPts val="0"/>
              </a:spcAft>
              <a:buNone/>
            </a:pPr>
            <a:r>
              <a:rPr lang="en-CA" sz="1400">
                <a:solidFill>
                  <a:schemeClr val="dk2"/>
                </a:solidFill>
                <a:latin typeface="Arial"/>
                <a:ea typeface="Arial"/>
                <a:cs typeface="Arial"/>
                <a:sym typeface="Arial"/>
              </a:rPr>
              <a:t>The model was trained on the labeled dataset and tested using NLP techniques for feature extraction and machine learning for sentiment classification, this approach aims to provide detailed insights for game developers and improve user feedback evaluation.</a:t>
            </a:r>
            <a:endParaRPr sz="1400">
              <a:solidFill>
                <a:schemeClr val="dk2"/>
              </a:solidFill>
              <a:latin typeface="Arial"/>
              <a:ea typeface="Arial"/>
              <a:cs typeface="Arial"/>
              <a:sym typeface="Arial"/>
            </a:endParaRPr>
          </a:p>
          <a:p>
            <a:pPr marL="0" lvl="0" indent="0" algn="l" rtl="0">
              <a:spcBef>
                <a:spcPts val="1200"/>
              </a:spcBef>
              <a:spcAft>
                <a:spcPts val="1200"/>
              </a:spcAft>
              <a:buNone/>
            </a:pPr>
            <a:endParaRPr sz="1400" b="1">
              <a:solidFill>
                <a:schemeClr val="dk2"/>
              </a:solidFill>
              <a:latin typeface="Arial"/>
              <a:ea typeface="Arial"/>
              <a:cs typeface="Arial"/>
              <a:sym typeface="Arial"/>
            </a:endParaRPr>
          </a:p>
        </p:txBody>
      </p:sp>
      <p:pic>
        <p:nvPicPr>
          <p:cNvPr id="100" name="Google Shape;100;p15" descr="Upset young man looking at an error in a gaming PC (Provided by Getty Images)"/>
          <p:cNvPicPr preferRelativeResize="0"/>
          <p:nvPr/>
        </p:nvPicPr>
        <p:blipFill>
          <a:blip r:embed="rId3">
            <a:alphaModFix/>
          </a:blip>
          <a:stretch>
            <a:fillRect/>
          </a:stretch>
        </p:blipFill>
        <p:spPr>
          <a:xfrm>
            <a:off x="97374" y="1459975"/>
            <a:ext cx="3938949" cy="26272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6"/>
          <p:cNvSpPr txBox="1">
            <a:spLocks noGrp="1"/>
          </p:cNvSpPr>
          <p:nvPr>
            <p:ph type="title"/>
          </p:nvPr>
        </p:nvSpPr>
        <p:spPr>
          <a:xfrm>
            <a:off x="680975" y="5745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latin typeface="Arial"/>
                <a:ea typeface="Arial"/>
                <a:cs typeface="Arial"/>
                <a:sym typeface="Arial"/>
              </a:rPr>
              <a:t>Introduction</a:t>
            </a:r>
            <a:endParaRPr sz="2440">
              <a:latin typeface="Arial"/>
              <a:ea typeface="Arial"/>
              <a:cs typeface="Arial"/>
              <a:sym typeface="Arial"/>
            </a:endParaRPr>
          </a:p>
        </p:txBody>
      </p:sp>
      <p:sp>
        <p:nvSpPr>
          <p:cNvPr id="106" name="Google Shape;106;p16"/>
          <p:cNvSpPr txBox="1">
            <a:spLocks noGrp="1"/>
          </p:cNvSpPr>
          <p:nvPr>
            <p:ph type="body" idx="1"/>
          </p:nvPr>
        </p:nvSpPr>
        <p:spPr>
          <a:xfrm>
            <a:off x="765000" y="1380400"/>
            <a:ext cx="5895000" cy="3604500"/>
          </a:xfrm>
          <a:prstGeom prst="rect">
            <a:avLst/>
          </a:prstGeom>
        </p:spPr>
        <p:txBody>
          <a:bodyPr spcFirstLastPara="1" wrap="square" lIns="91425" tIns="91425" rIns="91425" bIns="91425" anchor="t" anchorCtr="0">
            <a:normAutofit fontScale="70000" lnSpcReduction="20000"/>
          </a:bodyPr>
          <a:lstStyle/>
          <a:p>
            <a:pPr marL="0" lvl="0" indent="0" algn="l" rtl="0">
              <a:spcBef>
                <a:spcPts val="1200"/>
              </a:spcBef>
              <a:spcAft>
                <a:spcPts val="0"/>
              </a:spcAft>
              <a:buNone/>
            </a:pPr>
            <a:r>
              <a:rPr lang="en-CA" sz="1600">
                <a:solidFill>
                  <a:schemeClr val="dk2"/>
                </a:solidFill>
                <a:latin typeface="Arial"/>
                <a:ea typeface="Arial"/>
                <a:cs typeface="Arial"/>
                <a:sym typeface="Arial"/>
              </a:rPr>
              <a:t>The digital gaming industry has evolved into a massive sector, reaching billions of users worldwide. With increasing competition, user reviews have become a critical source of feedback for developers.</a:t>
            </a:r>
            <a:endParaRPr sz="1600">
              <a:solidFill>
                <a:schemeClr val="dk2"/>
              </a:solidFill>
              <a:latin typeface="Arial"/>
              <a:ea typeface="Arial"/>
              <a:cs typeface="Arial"/>
              <a:sym typeface="Arial"/>
            </a:endParaRPr>
          </a:p>
          <a:p>
            <a:pPr marL="0" lvl="0" indent="0" algn="l" rtl="0">
              <a:spcBef>
                <a:spcPts val="1200"/>
              </a:spcBef>
              <a:spcAft>
                <a:spcPts val="0"/>
              </a:spcAft>
              <a:buNone/>
            </a:pPr>
            <a:r>
              <a:rPr lang="en-CA" sz="1600">
                <a:solidFill>
                  <a:schemeClr val="dk2"/>
                </a:solidFill>
                <a:latin typeface="Arial"/>
                <a:ea typeface="Arial"/>
                <a:cs typeface="Arial"/>
                <a:sym typeface="Arial"/>
              </a:rPr>
              <a:t>Sentiment analysis, a technique within the field of Natural Language Processing (NLP), aims to classify the emotional tone or subjective opinions expressed in texts. This approach can identify emotions such as joy, anger, and frustration, and categorizes text as positive, negative, or neutral.</a:t>
            </a:r>
            <a:endParaRPr sz="1600">
              <a:solidFill>
                <a:schemeClr val="dk2"/>
              </a:solidFill>
              <a:latin typeface="Arial"/>
              <a:ea typeface="Arial"/>
              <a:cs typeface="Arial"/>
              <a:sym typeface="Arial"/>
            </a:endParaRPr>
          </a:p>
          <a:p>
            <a:pPr marL="0" lvl="0" indent="0" algn="l" rtl="0">
              <a:spcBef>
                <a:spcPts val="1200"/>
              </a:spcBef>
              <a:spcAft>
                <a:spcPts val="0"/>
              </a:spcAft>
              <a:buNone/>
            </a:pPr>
            <a:r>
              <a:rPr lang="en-CA" sz="1600">
                <a:solidFill>
                  <a:schemeClr val="dk2"/>
                </a:solidFill>
                <a:latin typeface="Arial"/>
                <a:ea typeface="Arial"/>
                <a:cs typeface="Arial"/>
                <a:sym typeface="Arial"/>
              </a:rPr>
              <a:t>Online reviews related to games provide direct insights into players’ experiences, expectations, and dissatisfaction. However, Turkish—a morphologically rich and agglutinative language—poses specific challenges for sentiment analysis. The complexity introduced by its affixation structure and contextual nuances requires sophisticated methods that can effectively capture these intricacies.</a:t>
            </a:r>
            <a:endParaRPr sz="1600">
              <a:solidFill>
                <a:schemeClr val="dk2"/>
              </a:solidFill>
              <a:latin typeface="Arial"/>
              <a:ea typeface="Arial"/>
              <a:cs typeface="Arial"/>
              <a:sym typeface="Arial"/>
            </a:endParaRPr>
          </a:p>
          <a:p>
            <a:pPr marL="0" lvl="0" indent="0" algn="l" rtl="0">
              <a:spcBef>
                <a:spcPts val="1200"/>
              </a:spcBef>
              <a:spcAft>
                <a:spcPts val="0"/>
              </a:spcAft>
              <a:buNone/>
            </a:pPr>
            <a:r>
              <a:rPr lang="en-CA" sz="1600">
                <a:solidFill>
                  <a:schemeClr val="dk2"/>
                </a:solidFill>
                <a:latin typeface="Arial"/>
                <a:ea typeface="Arial"/>
                <a:cs typeface="Arial"/>
                <a:sym typeface="Arial"/>
              </a:rPr>
              <a:t>This study aims to develop a model that segments Turkish game reviews according to predefined aspects such as graphics, artificial intelligence (AI), and gameplay, and classifies the sentiment for each aspect as either positive, negative or neutral.</a:t>
            </a:r>
            <a:endParaRPr sz="1600">
              <a:solidFill>
                <a:schemeClr val="dk2"/>
              </a:solidFill>
              <a:latin typeface="Arial"/>
              <a:ea typeface="Arial"/>
              <a:cs typeface="Arial"/>
              <a:sym typeface="Arial"/>
            </a:endParaRPr>
          </a:p>
          <a:p>
            <a:pPr marL="0" lvl="0" indent="0" algn="l" rtl="0">
              <a:spcBef>
                <a:spcPts val="1200"/>
              </a:spcBef>
              <a:spcAft>
                <a:spcPts val="1200"/>
              </a:spcAft>
              <a:buNone/>
            </a:pPr>
            <a:endParaRPr sz="1600">
              <a:solidFill>
                <a:schemeClr val="dk2"/>
              </a:solidFill>
              <a:latin typeface="Arial"/>
              <a:ea typeface="Arial"/>
              <a:cs typeface="Arial"/>
              <a:sym typeface="Arial"/>
            </a:endParaRPr>
          </a:p>
        </p:txBody>
      </p:sp>
      <p:pic>
        <p:nvPicPr>
          <p:cNvPr id="107" name="Google Shape;107;p16" descr="conducting a survey of the vector icon. Isolated contour symbol illustration (Provided by Getty Images)"/>
          <p:cNvPicPr preferRelativeResize="0"/>
          <p:nvPr/>
        </p:nvPicPr>
        <p:blipFill>
          <a:blip r:embed="rId3">
            <a:alphaModFix/>
          </a:blip>
          <a:stretch>
            <a:fillRect/>
          </a:stretch>
        </p:blipFill>
        <p:spPr>
          <a:xfrm>
            <a:off x="6727450" y="1813425"/>
            <a:ext cx="2102651" cy="2102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491300" y="567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latin typeface="Arial"/>
                <a:ea typeface="Arial"/>
                <a:cs typeface="Arial"/>
                <a:sym typeface="Arial"/>
              </a:rPr>
              <a:t>Literature Review</a:t>
            </a:r>
            <a:endParaRPr sz="2440">
              <a:latin typeface="Arial"/>
              <a:ea typeface="Arial"/>
              <a:cs typeface="Arial"/>
              <a:sym typeface="Arial"/>
            </a:endParaRPr>
          </a:p>
        </p:txBody>
      </p:sp>
      <p:sp>
        <p:nvSpPr>
          <p:cNvPr id="113" name="Google Shape;113;p17"/>
          <p:cNvSpPr txBox="1">
            <a:spLocks noGrp="1"/>
          </p:cNvSpPr>
          <p:nvPr>
            <p:ph type="body" idx="1"/>
          </p:nvPr>
        </p:nvSpPr>
        <p:spPr>
          <a:xfrm>
            <a:off x="272275" y="1362625"/>
            <a:ext cx="8497800" cy="3540900"/>
          </a:xfrm>
          <a:prstGeom prst="rect">
            <a:avLst/>
          </a:prstGeom>
        </p:spPr>
        <p:txBody>
          <a:bodyPr spcFirstLastPara="1" wrap="square" lIns="91425" tIns="91425" rIns="91425" bIns="91425" anchor="t" anchorCtr="0">
            <a:normAutofit fontScale="47500"/>
          </a:bodyPr>
          <a:lstStyle/>
          <a:p>
            <a:pPr marL="457200" lvl="0" indent="-297973" algn="l" rtl="0">
              <a:spcBef>
                <a:spcPts val="1200"/>
              </a:spcBef>
              <a:spcAft>
                <a:spcPts val="0"/>
              </a:spcAft>
              <a:buClr>
                <a:srgbClr val="000000"/>
              </a:buClr>
              <a:buSzPct val="100000"/>
              <a:buFont typeface="Arial"/>
              <a:buChar char="●"/>
            </a:pPr>
            <a:r>
              <a:rPr lang="en-CA" sz="2300" b="1">
                <a:solidFill>
                  <a:srgbClr val="000000"/>
                </a:solidFill>
                <a:latin typeface="Arial"/>
                <a:ea typeface="Arial"/>
                <a:cs typeface="Arial"/>
                <a:sym typeface="Arial"/>
              </a:rPr>
              <a:t>English literature:</a:t>
            </a:r>
            <a:r>
              <a:rPr lang="en-CA" sz="2300">
                <a:solidFill>
                  <a:srgbClr val="000000"/>
                </a:solidFill>
                <a:latin typeface="Arial"/>
                <a:ea typeface="Arial"/>
                <a:cs typeface="Arial"/>
                <a:sym typeface="Arial"/>
              </a:rPr>
              <a:t> Lexicon-based methods like VADER, optimized for social media, achieve around </a:t>
            </a:r>
            <a:r>
              <a:rPr lang="en-CA" sz="2300" b="1">
                <a:solidFill>
                  <a:srgbClr val="000000"/>
                </a:solidFill>
                <a:latin typeface="Arial"/>
                <a:ea typeface="Arial"/>
                <a:cs typeface="Arial"/>
                <a:sym typeface="Arial"/>
              </a:rPr>
              <a:t>65–75%</a:t>
            </a:r>
            <a:r>
              <a:rPr lang="en-CA" sz="2300">
                <a:solidFill>
                  <a:srgbClr val="000000"/>
                </a:solidFill>
                <a:latin typeface="Arial"/>
                <a:ea typeface="Arial"/>
                <a:cs typeface="Arial"/>
                <a:sym typeface="Arial"/>
              </a:rPr>
              <a:t> accuracy. Machine learning models such as Naïve Bayes, Logistic Regression, SVM, and Random Forest report accuracies near </a:t>
            </a:r>
            <a:r>
              <a:rPr lang="en-CA" sz="2300" b="1">
                <a:solidFill>
                  <a:srgbClr val="000000"/>
                </a:solidFill>
                <a:latin typeface="Arial"/>
                <a:ea typeface="Arial"/>
                <a:cs typeface="Arial"/>
                <a:sym typeface="Arial"/>
              </a:rPr>
              <a:t>82.5%</a:t>
            </a:r>
            <a:r>
              <a:rPr lang="en-CA" sz="2300">
                <a:solidFill>
                  <a:srgbClr val="000000"/>
                </a:solidFill>
                <a:latin typeface="Arial"/>
                <a:ea typeface="Arial"/>
                <a:cs typeface="Arial"/>
                <a:sym typeface="Arial"/>
              </a:rPr>
              <a:t>. Deep learning models like BiLSTM and CNN offer improved contextual understanding, reaching up to </a:t>
            </a:r>
            <a:r>
              <a:rPr lang="en-CA" sz="2300" b="1">
                <a:solidFill>
                  <a:srgbClr val="000000"/>
                </a:solidFill>
                <a:latin typeface="Arial"/>
                <a:ea typeface="Arial"/>
                <a:cs typeface="Arial"/>
                <a:sym typeface="Arial"/>
              </a:rPr>
              <a:t>91%</a:t>
            </a:r>
            <a:r>
              <a:rPr lang="en-CA" sz="2300">
                <a:solidFill>
                  <a:srgbClr val="000000"/>
                </a:solidFill>
                <a:latin typeface="Arial"/>
                <a:ea typeface="Arial"/>
                <a:cs typeface="Arial"/>
                <a:sym typeface="Arial"/>
              </a:rPr>
              <a:t> accuracy. Transformer-based models, especially BERT, show top performance with scores of </a:t>
            </a:r>
            <a:r>
              <a:rPr lang="en-CA" sz="2300" b="1">
                <a:solidFill>
                  <a:srgbClr val="000000"/>
                </a:solidFill>
                <a:latin typeface="Arial"/>
                <a:ea typeface="Arial"/>
                <a:cs typeface="Arial"/>
                <a:sym typeface="Arial"/>
              </a:rPr>
              <a:t>91.39%</a:t>
            </a:r>
            <a:r>
              <a:rPr lang="en-CA" sz="2300">
                <a:solidFill>
                  <a:srgbClr val="000000"/>
                </a:solidFill>
                <a:latin typeface="Arial"/>
                <a:ea typeface="Arial"/>
                <a:cs typeface="Arial"/>
                <a:sym typeface="Arial"/>
              </a:rPr>
              <a:t>, </a:t>
            </a:r>
            <a:r>
              <a:rPr lang="en-CA" sz="2300" b="1">
                <a:solidFill>
                  <a:srgbClr val="000000"/>
                </a:solidFill>
                <a:latin typeface="Arial"/>
                <a:ea typeface="Arial"/>
                <a:cs typeface="Arial"/>
                <a:sym typeface="Arial"/>
              </a:rPr>
              <a:t>92%</a:t>
            </a:r>
            <a:r>
              <a:rPr lang="en-CA" sz="2300">
                <a:solidFill>
                  <a:srgbClr val="000000"/>
                </a:solidFill>
                <a:latin typeface="Arial"/>
                <a:ea typeface="Arial"/>
                <a:cs typeface="Arial"/>
                <a:sym typeface="Arial"/>
              </a:rPr>
              <a:t>, and even </a:t>
            </a:r>
            <a:r>
              <a:rPr lang="en-CA" sz="2300" b="1">
                <a:solidFill>
                  <a:srgbClr val="000000"/>
                </a:solidFill>
                <a:latin typeface="Arial"/>
                <a:ea typeface="Arial"/>
                <a:cs typeface="Arial"/>
                <a:sym typeface="Arial"/>
              </a:rPr>
              <a:t>98%</a:t>
            </a:r>
            <a:r>
              <a:rPr lang="en-CA" sz="2300">
                <a:solidFill>
                  <a:srgbClr val="000000"/>
                </a:solidFill>
                <a:latin typeface="Arial"/>
                <a:ea typeface="Arial"/>
                <a:cs typeface="Arial"/>
                <a:sym typeface="Arial"/>
              </a:rPr>
              <a:t> in some cases. In contrast, Turkish literature is limited, mostly focusing on general sentiment analysis. A major challenge is the lack of large, labeled Turkish datasets, which hinders further advancement.</a:t>
            </a:r>
            <a:endParaRPr sz="2300">
              <a:solidFill>
                <a:srgbClr val="000000"/>
              </a:solidFill>
              <a:latin typeface="Arial"/>
              <a:ea typeface="Arial"/>
              <a:cs typeface="Arial"/>
              <a:sym typeface="Arial"/>
            </a:endParaRPr>
          </a:p>
          <a:p>
            <a:pPr marL="457200" lvl="0" indent="-297973" algn="l" rtl="0">
              <a:spcBef>
                <a:spcPts val="0"/>
              </a:spcBef>
              <a:spcAft>
                <a:spcPts val="0"/>
              </a:spcAft>
              <a:buClr>
                <a:srgbClr val="000000"/>
              </a:buClr>
              <a:buSzPct val="100000"/>
              <a:buFont typeface="Arial"/>
              <a:buChar char="●"/>
            </a:pPr>
            <a:r>
              <a:rPr lang="en-CA" sz="2300" b="1">
                <a:solidFill>
                  <a:srgbClr val="000000"/>
                </a:solidFill>
                <a:latin typeface="Arial"/>
                <a:ea typeface="Arial"/>
                <a:cs typeface="Arial"/>
                <a:sym typeface="Arial"/>
              </a:rPr>
              <a:t>Data Sources:</a:t>
            </a:r>
            <a:r>
              <a:rPr lang="en-CA" sz="2300">
                <a:solidFill>
                  <a:srgbClr val="000000"/>
                </a:solidFill>
                <a:latin typeface="Arial"/>
                <a:ea typeface="Arial"/>
                <a:cs typeface="Arial"/>
                <a:sym typeface="Arial"/>
              </a:rPr>
              <a:t>Platforms like Steam, Google Play Store, X (Twitter), and Reddit provide large-scale user-generated reviews.</a:t>
            </a:r>
            <a:endParaRPr sz="2300">
              <a:solidFill>
                <a:srgbClr val="000000"/>
              </a:solidFill>
              <a:latin typeface="Arial"/>
              <a:ea typeface="Arial"/>
              <a:cs typeface="Arial"/>
              <a:sym typeface="Arial"/>
            </a:endParaRPr>
          </a:p>
          <a:p>
            <a:pPr marL="457200" lvl="0" indent="-297973" algn="l" rtl="0">
              <a:spcBef>
                <a:spcPts val="0"/>
              </a:spcBef>
              <a:spcAft>
                <a:spcPts val="0"/>
              </a:spcAft>
              <a:buClr>
                <a:srgbClr val="000000"/>
              </a:buClr>
              <a:buSzPct val="100000"/>
              <a:buFont typeface="Arial"/>
              <a:buChar char="●"/>
            </a:pPr>
            <a:r>
              <a:rPr lang="en-CA" sz="2300" b="1">
                <a:solidFill>
                  <a:srgbClr val="000000"/>
                </a:solidFill>
                <a:latin typeface="Arial"/>
                <a:ea typeface="Arial"/>
                <a:cs typeface="Arial"/>
                <a:sym typeface="Arial"/>
              </a:rPr>
              <a:t>Turkish Literature:</a:t>
            </a:r>
            <a:r>
              <a:rPr lang="en-CA" sz="2300">
                <a:solidFill>
                  <a:srgbClr val="000000"/>
                </a:solidFill>
                <a:latin typeface="Arial"/>
                <a:ea typeface="Arial"/>
                <a:cs typeface="Arial"/>
                <a:sym typeface="Arial"/>
              </a:rPr>
              <a:t>More limited in scope. Most studies focus on general sentiment analysis, with few comprehensive works on aspect-based approaches. There is a lack of large, labeled Turkish datasets.</a:t>
            </a:r>
            <a:endParaRPr sz="2300">
              <a:solidFill>
                <a:srgbClr val="000000"/>
              </a:solidFill>
              <a:latin typeface="Arial"/>
              <a:ea typeface="Arial"/>
              <a:cs typeface="Arial"/>
              <a:sym typeface="Arial"/>
            </a:endParaRPr>
          </a:p>
          <a:p>
            <a:pPr marL="457200" lvl="0" indent="-297973" algn="l" rtl="0">
              <a:spcBef>
                <a:spcPts val="0"/>
              </a:spcBef>
              <a:spcAft>
                <a:spcPts val="0"/>
              </a:spcAft>
              <a:buClr>
                <a:srgbClr val="000000"/>
              </a:buClr>
              <a:buSzPct val="100000"/>
              <a:buFont typeface="Arial"/>
              <a:buChar char="●"/>
            </a:pPr>
            <a:r>
              <a:rPr lang="en-CA" sz="2300" b="1">
                <a:solidFill>
                  <a:srgbClr val="000000"/>
                </a:solidFill>
                <a:latin typeface="Arial"/>
                <a:ea typeface="Arial"/>
                <a:cs typeface="Arial"/>
                <a:sym typeface="Arial"/>
              </a:rPr>
              <a:t>Challenges:</a:t>
            </a:r>
            <a:endParaRPr sz="2300" b="1">
              <a:solidFill>
                <a:srgbClr val="000000"/>
              </a:solidFill>
              <a:latin typeface="Arial"/>
              <a:ea typeface="Arial"/>
              <a:cs typeface="Arial"/>
              <a:sym typeface="Arial"/>
            </a:endParaRPr>
          </a:p>
          <a:p>
            <a:pPr marL="914400" lvl="1" indent="-297973" algn="l" rtl="0">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Sarcasm, irony, domain-specific jargon (e.g., "OP", "grind", "nerf"), and game-related terminology.</a:t>
            </a:r>
            <a:endParaRPr sz="2300">
              <a:solidFill>
                <a:srgbClr val="000000"/>
              </a:solidFill>
              <a:latin typeface="Arial"/>
              <a:ea typeface="Arial"/>
              <a:cs typeface="Arial"/>
              <a:sym typeface="Arial"/>
            </a:endParaRPr>
          </a:p>
          <a:p>
            <a:pPr marL="914400" lvl="1" indent="-297973" algn="l" rtl="0">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Morphological complexity due to Turkish being an agglutinative language.</a:t>
            </a:r>
            <a:endParaRPr sz="2300">
              <a:solidFill>
                <a:srgbClr val="000000"/>
              </a:solidFill>
              <a:latin typeface="Arial"/>
              <a:ea typeface="Arial"/>
              <a:cs typeface="Arial"/>
              <a:sym typeface="Arial"/>
            </a:endParaRPr>
          </a:p>
          <a:p>
            <a:pPr marL="914400" lvl="1" indent="-297973" algn="l" rtl="0">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Imbalanced data distribution and presence of multilingual content.</a:t>
            </a:r>
            <a:endParaRPr sz="2300">
              <a:solidFill>
                <a:srgbClr val="000000"/>
              </a:solidFill>
              <a:latin typeface="Arial"/>
              <a:ea typeface="Arial"/>
              <a:cs typeface="Arial"/>
              <a:sym typeface="Arial"/>
            </a:endParaRPr>
          </a:p>
          <a:p>
            <a:pPr marL="914400" lvl="1" indent="-297973" algn="l" rtl="0">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Use of slang and abbreviated in-game expressions.</a:t>
            </a:r>
            <a:endParaRPr sz="2300">
              <a:solidFill>
                <a:srgbClr val="000000"/>
              </a:solidFill>
              <a:latin typeface="Arial"/>
              <a:ea typeface="Arial"/>
              <a:cs typeface="Arial"/>
              <a:sym typeface="Arial"/>
            </a:endParaRPr>
          </a:p>
          <a:p>
            <a:pPr marL="0" lvl="0" indent="0" algn="l" rtl="0">
              <a:spcBef>
                <a:spcPts val="1200"/>
              </a:spcBef>
              <a:spcAft>
                <a:spcPts val="0"/>
              </a:spcAft>
              <a:buNone/>
            </a:pP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200" baseline="300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729450" y="6244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latin typeface="Arial"/>
                <a:ea typeface="Arial"/>
                <a:cs typeface="Arial"/>
                <a:sym typeface="Arial"/>
              </a:rPr>
              <a:t>Data Scrapping</a:t>
            </a:r>
            <a:endParaRPr sz="2440">
              <a:latin typeface="Arial"/>
              <a:ea typeface="Arial"/>
              <a:cs typeface="Arial"/>
              <a:sym typeface="Arial"/>
            </a:endParaRPr>
          </a:p>
        </p:txBody>
      </p:sp>
      <p:sp>
        <p:nvSpPr>
          <p:cNvPr id="119" name="Google Shape;119;p18"/>
          <p:cNvSpPr txBox="1">
            <a:spLocks noGrp="1"/>
          </p:cNvSpPr>
          <p:nvPr>
            <p:ph type="body" idx="1"/>
          </p:nvPr>
        </p:nvSpPr>
        <p:spPr>
          <a:xfrm>
            <a:off x="606300" y="1479150"/>
            <a:ext cx="5566800" cy="3059400"/>
          </a:xfrm>
          <a:prstGeom prst="rect">
            <a:avLst/>
          </a:prstGeom>
        </p:spPr>
        <p:txBody>
          <a:bodyPr spcFirstLastPara="1" wrap="square" lIns="91425" tIns="91425" rIns="91425" bIns="91425" anchor="t" anchorCtr="0">
            <a:normAutofit fontScale="85000" lnSpcReduction="10000"/>
          </a:bodyPr>
          <a:lstStyle/>
          <a:p>
            <a:pPr marL="457200" lvl="0" indent="-309562" algn="l" rtl="0">
              <a:spcBef>
                <a:spcPts val="1200"/>
              </a:spcBef>
              <a:spcAft>
                <a:spcPts val="0"/>
              </a:spcAft>
              <a:buClr>
                <a:schemeClr val="dk2"/>
              </a:buClr>
              <a:buSzPct val="100000"/>
              <a:buFont typeface="Arial"/>
              <a:buChar char="●"/>
            </a:pPr>
            <a:r>
              <a:rPr lang="en-CA" sz="1500">
                <a:solidFill>
                  <a:schemeClr val="dk2"/>
                </a:solidFill>
                <a:latin typeface="Arial"/>
                <a:ea typeface="Arial"/>
                <a:cs typeface="Arial"/>
                <a:sym typeface="Arial"/>
              </a:rPr>
              <a:t>Approximately </a:t>
            </a:r>
            <a:r>
              <a:rPr lang="en-CA" sz="1500" b="1">
                <a:solidFill>
                  <a:schemeClr val="dk2"/>
                </a:solidFill>
                <a:latin typeface="Arial"/>
                <a:ea typeface="Arial"/>
                <a:cs typeface="Arial"/>
                <a:sym typeface="Arial"/>
              </a:rPr>
              <a:t>2,100 user reviews from 35 games </a:t>
            </a:r>
            <a:r>
              <a:rPr lang="en-CA" sz="1500">
                <a:solidFill>
                  <a:schemeClr val="dk2"/>
                </a:solidFill>
                <a:latin typeface="Arial"/>
                <a:ea typeface="Arial"/>
                <a:cs typeface="Arial"/>
                <a:sym typeface="Arial"/>
              </a:rPr>
              <a:t>across various Steam categories such as action, strategy, and simulation</a:t>
            </a:r>
            <a:r>
              <a:rPr lang="en-CA" sz="1500" b="1">
                <a:solidFill>
                  <a:schemeClr val="dk2"/>
                </a:solidFill>
                <a:latin typeface="Arial"/>
                <a:ea typeface="Arial"/>
                <a:cs typeface="Arial"/>
                <a:sym typeface="Arial"/>
              </a:rPr>
              <a:t> were collected using a Python-based web scraping approach.</a:t>
            </a:r>
            <a:endParaRPr sz="1500" b="1">
              <a:solidFill>
                <a:schemeClr val="dk2"/>
              </a:solidFill>
              <a:latin typeface="Arial"/>
              <a:ea typeface="Arial"/>
              <a:cs typeface="Arial"/>
              <a:sym typeface="Arial"/>
            </a:endParaRPr>
          </a:p>
          <a:p>
            <a:pPr marL="457200" lvl="0" indent="-309562" algn="l" rtl="0">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Utilizing the unique game IDs and the official Steam API with Turkish language settings, detailed game information was gathered, including game title, genre, description, price, release date, supported platforms, developer, game tags, and system requirements.</a:t>
            </a:r>
            <a:endParaRPr sz="1500">
              <a:solidFill>
                <a:schemeClr val="dk2"/>
              </a:solidFill>
              <a:latin typeface="Arial"/>
              <a:ea typeface="Arial"/>
              <a:cs typeface="Arial"/>
              <a:sym typeface="Arial"/>
            </a:endParaRPr>
          </a:p>
          <a:p>
            <a:pPr marL="457200" lvl="0" indent="-309562" algn="l" rtl="0">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An equal number of reviews were sourced from different categories to ensure diversity in content and linguistic usage, minimizing biases arising from individual writing styles, and resulting in a balanced and broadly representative dataset.</a:t>
            </a:r>
            <a:endParaRPr sz="1500">
              <a:solidFill>
                <a:schemeClr val="dk2"/>
              </a:solidFill>
              <a:latin typeface="Arial"/>
              <a:ea typeface="Arial"/>
              <a:cs typeface="Arial"/>
              <a:sym typeface="Arial"/>
            </a:endParaRPr>
          </a:p>
          <a:p>
            <a:pPr marL="0" lvl="0" indent="0" algn="l" rtl="0">
              <a:spcBef>
                <a:spcPts val="1200"/>
              </a:spcBef>
              <a:spcAft>
                <a:spcPts val="1200"/>
              </a:spcAft>
              <a:buNone/>
            </a:pPr>
            <a:endParaRPr sz="1500">
              <a:solidFill>
                <a:schemeClr val="dk2"/>
              </a:solidFill>
              <a:latin typeface="Arial"/>
              <a:ea typeface="Arial"/>
              <a:cs typeface="Arial"/>
              <a:sym typeface="Arial"/>
            </a:endParaRPr>
          </a:p>
        </p:txBody>
      </p:sp>
      <p:pic>
        <p:nvPicPr>
          <p:cNvPr id="120" name="Google Shape;120;p18" descr="a blue circle with a white steam icon inside of it (Provided by Tenor)"/>
          <p:cNvPicPr preferRelativeResize="0"/>
          <p:nvPr/>
        </p:nvPicPr>
        <p:blipFill>
          <a:blip r:embed="rId3">
            <a:alphaModFix/>
          </a:blip>
          <a:stretch>
            <a:fillRect/>
          </a:stretch>
        </p:blipFill>
        <p:spPr>
          <a:xfrm>
            <a:off x="6772000" y="2571750"/>
            <a:ext cx="2113475" cy="2113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803075" y="5929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solidFill>
                  <a:srgbClr val="000000"/>
                </a:solidFill>
                <a:latin typeface="Arial"/>
                <a:ea typeface="Arial"/>
                <a:cs typeface="Arial"/>
                <a:sym typeface="Arial"/>
              </a:rPr>
              <a:t>Data Preprocessing</a:t>
            </a:r>
            <a:endParaRPr sz="2440">
              <a:solidFill>
                <a:srgbClr val="000000"/>
              </a:solidFill>
              <a:latin typeface="Arial"/>
              <a:ea typeface="Arial"/>
              <a:cs typeface="Arial"/>
              <a:sym typeface="Arial"/>
            </a:endParaRPr>
          </a:p>
        </p:txBody>
      </p:sp>
      <p:sp>
        <p:nvSpPr>
          <p:cNvPr id="126" name="Google Shape;126;p19"/>
          <p:cNvSpPr txBox="1">
            <a:spLocks noGrp="1"/>
          </p:cNvSpPr>
          <p:nvPr>
            <p:ph type="body" idx="1"/>
          </p:nvPr>
        </p:nvSpPr>
        <p:spPr>
          <a:xfrm>
            <a:off x="382325" y="1479350"/>
            <a:ext cx="6281400" cy="2480100"/>
          </a:xfrm>
          <a:prstGeom prst="rect">
            <a:avLst/>
          </a:prstGeom>
        </p:spPr>
        <p:txBody>
          <a:bodyPr spcFirstLastPara="1" wrap="square" lIns="91425" tIns="91425" rIns="91425" bIns="91425" anchor="t" anchorCtr="0">
            <a:normAutofit fontScale="92500" lnSpcReduction="20000"/>
          </a:bodyPr>
          <a:lstStyle/>
          <a:p>
            <a:pPr marL="457200" lvl="0" indent="-293211" algn="l" rtl="0">
              <a:spcBef>
                <a:spcPts val="1200"/>
              </a:spcBef>
              <a:spcAft>
                <a:spcPts val="0"/>
              </a:spcAft>
              <a:buClr>
                <a:srgbClr val="000000"/>
              </a:buClr>
              <a:buSzPct val="100000"/>
              <a:buFont typeface="Arial"/>
              <a:buChar char="●"/>
            </a:pPr>
            <a:r>
              <a:rPr lang="en-CA" sz="1100">
                <a:solidFill>
                  <a:srgbClr val="000000"/>
                </a:solidFill>
                <a:latin typeface="Arial"/>
                <a:ea typeface="Arial"/>
                <a:cs typeface="Arial"/>
                <a:sym typeface="Arial"/>
              </a:rPr>
              <a:t>Multiple consecutive spaces were reduced to single spaces, and unnecessary whitespace at the beginning and end of lines was removed.</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HTML/Markdown residues, special characters, and lines irrelevant to the dataset were eliminated.</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Auxiliary and unnecessary columns were removed to maintain structural consistency within the dataset.</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Punctuation marks were largely retained, while repetitive character sequences within words were normalized.</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Texts were converted to lowercase, and words were lemmatized according to Turkish morphological rules using </a:t>
            </a:r>
            <a:r>
              <a:rPr lang="en-CA" sz="1100" b="1">
                <a:solidFill>
                  <a:srgbClr val="000000"/>
                </a:solidFill>
                <a:latin typeface="Arial"/>
                <a:ea typeface="Arial"/>
                <a:cs typeface="Arial"/>
                <a:sym typeface="Arial"/>
              </a:rPr>
              <a:t>Zemberek, a Turkish NLP library.</a:t>
            </a:r>
            <a:endParaRPr sz="1100" b="1">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The language of reviews was automatically identified using the </a:t>
            </a:r>
            <a:r>
              <a:rPr lang="en-CA" sz="1100" b="1">
                <a:solidFill>
                  <a:srgbClr val="000000"/>
                </a:solidFill>
                <a:latin typeface="Arial"/>
                <a:ea typeface="Arial"/>
                <a:cs typeface="Arial"/>
                <a:sym typeface="Arial"/>
              </a:rPr>
              <a:t>langdetect library</a:t>
            </a:r>
            <a:r>
              <a:rPr lang="en-CA" sz="1100">
                <a:solidFill>
                  <a:srgbClr val="000000"/>
                </a:solidFill>
                <a:latin typeface="Arial"/>
                <a:ea typeface="Arial"/>
                <a:cs typeface="Arial"/>
                <a:sym typeface="Arial"/>
              </a:rPr>
              <a:t>, and reviews in languages other than Turkish were filtered out, ensuring linguistic consistency.</a:t>
            </a:r>
            <a:endParaRPr sz="1100">
              <a:solidFill>
                <a:srgbClr val="000000"/>
              </a:solidFill>
              <a:latin typeface="Arial"/>
              <a:ea typeface="Arial"/>
              <a:cs typeface="Arial"/>
              <a:sym typeface="Arial"/>
            </a:endParaRPr>
          </a:p>
          <a:p>
            <a:pPr marL="457200" lvl="0" indent="-293211" algn="l" rtl="0">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Profanity and slang expressions were intentionally preserved in the dataset due to their potential strong emotional significance.</a:t>
            </a:r>
            <a:endParaRPr sz="1100">
              <a:solidFill>
                <a:srgbClr val="000000"/>
              </a:solidFill>
              <a:latin typeface="Arial"/>
              <a:ea typeface="Arial"/>
              <a:cs typeface="Arial"/>
              <a:sym typeface="Arial"/>
            </a:endParaRPr>
          </a:p>
          <a:p>
            <a:pPr marL="0" lvl="0" indent="0" algn="l" rtl="0">
              <a:spcBef>
                <a:spcPts val="1200"/>
              </a:spcBef>
              <a:spcAft>
                <a:spcPts val="1200"/>
              </a:spcAft>
              <a:buNone/>
            </a:pPr>
            <a:r>
              <a:rPr lang="en-CA" sz="1100">
                <a:solidFill>
                  <a:srgbClr val="000000"/>
                </a:solidFill>
                <a:latin typeface="Arial"/>
                <a:ea typeface="Arial"/>
                <a:cs typeface="Arial"/>
                <a:sym typeface="Arial"/>
              </a:rPr>
              <a:t>➡️ </a:t>
            </a:r>
            <a:r>
              <a:rPr lang="en-CA" sz="1100" b="1">
                <a:solidFill>
                  <a:srgbClr val="000000"/>
                </a:solidFill>
                <a:latin typeface="Arial"/>
                <a:ea typeface="Arial"/>
                <a:cs typeface="Arial"/>
                <a:sym typeface="Arial"/>
              </a:rPr>
              <a:t>Objective: To achieve a clean yet realistic text structure suitable for sentiment analysis.</a:t>
            </a:r>
            <a:endParaRPr>
              <a:solidFill>
                <a:srgbClr val="000000"/>
              </a:solidFill>
              <a:latin typeface="Arial"/>
              <a:ea typeface="Arial"/>
              <a:cs typeface="Arial"/>
              <a:sym typeface="Arial"/>
            </a:endParaRPr>
          </a:p>
        </p:txBody>
      </p:sp>
      <p:pic>
        <p:nvPicPr>
          <p:cNvPr id="127" name="Google Shape;127;p19" descr="cleaning laptop icon vector outline illustration (Provided by Getty Images)"/>
          <p:cNvPicPr preferRelativeResize="0"/>
          <p:nvPr/>
        </p:nvPicPr>
        <p:blipFill>
          <a:blip r:embed="rId3">
            <a:alphaModFix/>
          </a:blip>
          <a:stretch>
            <a:fillRect/>
          </a:stretch>
        </p:blipFill>
        <p:spPr>
          <a:xfrm>
            <a:off x="6663825" y="687550"/>
            <a:ext cx="2480174" cy="2480174"/>
          </a:xfrm>
          <a:prstGeom prst="rect">
            <a:avLst/>
          </a:prstGeom>
          <a:noFill/>
          <a:ln>
            <a:noFill/>
          </a:ln>
        </p:spPr>
      </p:pic>
      <p:pic>
        <p:nvPicPr>
          <p:cNvPr id="128" name="Google Shape;128;p19"/>
          <p:cNvPicPr preferRelativeResize="0"/>
          <p:nvPr/>
        </p:nvPicPr>
        <p:blipFill>
          <a:blip r:embed="rId4">
            <a:alphaModFix/>
          </a:blip>
          <a:stretch>
            <a:fillRect/>
          </a:stretch>
        </p:blipFill>
        <p:spPr>
          <a:xfrm>
            <a:off x="5093000" y="4092625"/>
            <a:ext cx="3755075" cy="7165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0"/>
          <p:cNvSpPr txBox="1">
            <a:spLocks noGrp="1"/>
          </p:cNvSpPr>
          <p:nvPr>
            <p:ph type="title"/>
          </p:nvPr>
        </p:nvSpPr>
        <p:spPr>
          <a:xfrm>
            <a:off x="727650" y="6034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solidFill>
                  <a:srgbClr val="000000"/>
                </a:solidFill>
                <a:latin typeface="Arial"/>
                <a:ea typeface="Arial"/>
                <a:cs typeface="Arial"/>
                <a:sym typeface="Arial"/>
              </a:rPr>
              <a:t>Data Labeling</a:t>
            </a:r>
            <a:endParaRPr sz="2440">
              <a:solidFill>
                <a:srgbClr val="000000"/>
              </a:solidFill>
              <a:latin typeface="Arial"/>
              <a:ea typeface="Arial"/>
              <a:cs typeface="Arial"/>
              <a:sym typeface="Arial"/>
            </a:endParaRPr>
          </a:p>
        </p:txBody>
      </p:sp>
      <p:sp>
        <p:nvSpPr>
          <p:cNvPr id="134" name="Google Shape;134;p20"/>
          <p:cNvSpPr txBox="1">
            <a:spLocks noGrp="1"/>
          </p:cNvSpPr>
          <p:nvPr>
            <p:ph type="body" idx="1"/>
          </p:nvPr>
        </p:nvSpPr>
        <p:spPr>
          <a:xfrm>
            <a:off x="438775" y="1193850"/>
            <a:ext cx="3055500" cy="2525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CA" sz="900">
                <a:solidFill>
                  <a:srgbClr val="000000"/>
                </a:solidFill>
                <a:latin typeface="Arial"/>
                <a:ea typeface="Arial"/>
                <a:cs typeface="Arial"/>
                <a:sym typeface="Arial"/>
              </a:rPr>
              <a:t>A total of </a:t>
            </a:r>
            <a:r>
              <a:rPr lang="en-CA" sz="900" b="1">
                <a:solidFill>
                  <a:srgbClr val="000000"/>
                </a:solidFill>
                <a:latin typeface="Arial"/>
                <a:ea typeface="Arial"/>
                <a:cs typeface="Arial"/>
                <a:sym typeface="Arial"/>
              </a:rPr>
              <a:t>2,100 cleaned reviews were manually labeled</a:t>
            </a:r>
            <a:r>
              <a:rPr lang="en-CA" sz="900">
                <a:solidFill>
                  <a:srgbClr val="000000"/>
                </a:solidFill>
                <a:latin typeface="Arial"/>
                <a:ea typeface="Arial"/>
                <a:cs typeface="Arial"/>
                <a:sym typeface="Arial"/>
              </a:rPr>
              <a:t> by three researchers.</a:t>
            </a:r>
            <a:endParaRPr sz="900">
              <a:solidFill>
                <a:srgbClr val="000000"/>
              </a:solidFill>
              <a:latin typeface="Arial"/>
              <a:ea typeface="Arial"/>
              <a:cs typeface="Arial"/>
              <a:sym typeface="Arial"/>
            </a:endParaRPr>
          </a:p>
          <a:p>
            <a:pPr marL="0" lvl="0" indent="0" algn="l" rtl="0">
              <a:spcBef>
                <a:spcPts val="1200"/>
              </a:spcBef>
              <a:spcAft>
                <a:spcPts val="0"/>
              </a:spcAft>
              <a:buNone/>
            </a:pPr>
            <a:r>
              <a:rPr lang="en-CA" sz="900">
                <a:solidFill>
                  <a:srgbClr val="000000"/>
                </a:solidFill>
                <a:latin typeface="Arial"/>
                <a:ea typeface="Arial"/>
                <a:cs typeface="Arial"/>
                <a:sym typeface="Arial"/>
              </a:rPr>
              <a:t>The reviews were assigned to </a:t>
            </a:r>
            <a:r>
              <a:rPr lang="en-CA" sz="900" b="1">
                <a:solidFill>
                  <a:srgbClr val="000000"/>
                </a:solidFill>
                <a:latin typeface="Arial"/>
                <a:ea typeface="Arial"/>
                <a:cs typeface="Arial"/>
                <a:sym typeface="Arial"/>
              </a:rPr>
              <a:t>one or more aspects </a:t>
            </a:r>
            <a:r>
              <a:rPr lang="en-CA" sz="900">
                <a:solidFill>
                  <a:srgbClr val="000000"/>
                </a:solidFill>
                <a:latin typeface="Arial"/>
                <a:ea typeface="Arial"/>
                <a:cs typeface="Arial"/>
                <a:sym typeface="Arial"/>
              </a:rPr>
              <a:t>based on their content:</a:t>
            </a:r>
            <a:endParaRPr sz="900">
              <a:solidFill>
                <a:srgbClr val="000000"/>
              </a:solidFill>
              <a:latin typeface="Arial"/>
              <a:ea typeface="Arial"/>
              <a:cs typeface="Arial"/>
              <a:sym typeface="Arial"/>
            </a:endParaRPr>
          </a:p>
          <a:p>
            <a:pPr marL="457200" lvl="0" indent="-298450" algn="l" rtl="0">
              <a:spcBef>
                <a:spcPts val="1200"/>
              </a:spcBef>
              <a:spcAft>
                <a:spcPts val="0"/>
              </a:spcAft>
              <a:buClr>
                <a:srgbClr val="000000"/>
              </a:buClr>
              <a:buSzPts val="1100"/>
              <a:buFont typeface="Arial"/>
              <a:buChar char="●"/>
            </a:pPr>
            <a:r>
              <a:rPr lang="en-CA" sz="900" b="1">
                <a:solidFill>
                  <a:srgbClr val="000000"/>
                </a:solidFill>
                <a:latin typeface="Arial"/>
                <a:ea typeface="Arial"/>
                <a:cs typeface="Arial"/>
                <a:sym typeface="Arial"/>
              </a:rPr>
              <a:t>Gameplay</a:t>
            </a:r>
            <a:endParaRPr sz="900" b="1">
              <a:solidFill>
                <a:srgbClr val="000000"/>
              </a:solidFill>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CA" sz="900" b="1">
                <a:solidFill>
                  <a:srgbClr val="000000"/>
                </a:solidFill>
                <a:latin typeface="Arial"/>
                <a:ea typeface="Arial"/>
                <a:cs typeface="Arial"/>
                <a:sym typeface="Arial"/>
              </a:rPr>
              <a:t>Artificial Intelligence (AI)</a:t>
            </a:r>
            <a:endParaRPr sz="900" b="1">
              <a:solidFill>
                <a:srgbClr val="000000"/>
              </a:solidFill>
              <a:latin typeface="Arial"/>
              <a:ea typeface="Arial"/>
              <a:cs typeface="Arial"/>
              <a:sym typeface="Arial"/>
            </a:endParaRPr>
          </a:p>
          <a:p>
            <a:pPr marL="457200" lvl="0" indent="-298450" algn="l" rtl="0">
              <a:spcBef>
                <a:spcPts val="0"/>
              </a:spcBef>
              <a:spcAft>
                <a:spcPts val="0"/>
              </a:spcAft>
              <a:buClr>
                <a:srgbClr val="000000"/>
              </a:buClr>
              <a:buSzPts val="1100"/>
              <a:buFont typeface="Arial"/>
              <a:buChar char="●"/>
            </a:pPr>
            <a:r>
              <a:rPr lang="en-CA" sz="900" b="1">
                <a:solidFill>
                  <a:srgbClr val="000000"/>
                </a:solidFill>
                <a:latin typeface="Arial"/>
                <a:ea typeface="Arial"/>
                <a:cs typeface="Arial"/>
                <a:sym typeface="Arial"/>
              </a:rPr>
              <a:t>Graphics</a:t>
            </a:r>
            <a:endParaRPr sz="900" b="1">
              <a:solidFill>
                <a:srgbClr val="000000"/>
              </a:solidFill>
              <a:latin typeface="Arial"/>
              <a:ea typeface="Arial"/>
              <a:cs typeface="Arial"/>
              <a:sym typeface="Arial"/>
            </a:endParaRPr>
          </a:p>
          <a:p>
            <a:pPr marL="0" lvl="0" indent="0" algn="l" rtl="0">
              <a:spcBef>
                <a:spcPts val="1200"/>
              </a:spcBef>
              <a:spcAft>
                <a:spcPts val="0"/>
              </a:spcAft>
              <a:buNone/>
            </a:pPr>
            <a:r>
              <a:rPr lang="en-CA" sz="900">
                <a:solidFill>
                  <a:srgbClr val="000000"/>
                </a:solidFill>
                <a:latin typeface="Arial"/>
                <a:ea typeface="Arial"/>
                <a:cs typeface="Arial"/>
                <a:sym typeface="Arial"/>
              </a:rPr>
              <a:t>Reviews not directly related to any of these three categories were classified according to their </a:t>
            </a:r>
            <a:r>
              <a:rPr lang="en-CA" sz="900" b="1">
                <a:solidFill>
                  <a:srgbClr val="000000"/>
                </a:solidFill>
                <a:latin typeface="Arial"/>
                <a:ea typeface="Arial"/>
                <a:cs typeface="Arial"/>
                <a:sym typeface="Arial"/>
              </a:rPr>
              <a:t>overall sentiment</a:t>
            </a:r>
            <a:r>
              <a:rPr lang="en-CA" sz="900">
                <a:solidFill>
                  <a:srgbClr val="000000"/>
                </a:solidFill>
                <a:latin typeface="Arial"/>
                <a:ea typeface="Arial"/>
                <a:cs typeface="Arial"/>
                <a:sym typeface="Arial"/>
              </a:rPr>
              <a:t> as either positive or negative.</a:t>
            </a:r>
            <a:endParaRPr sz="900">
              <a:solidFill>
                <a:srgbClr val="000000"/>
              </a:solidFill>
              <a:latin typeface="Arial"/>
              <a:ea typeface="Arial"/>
              <a:cs typeface="Arial"/>
              <a:sym typeface="Arial"/>
            </a:endParaRPr>
          </a:p>
          <a:p>
            <a:pPr marL="0" lvl="0" indent="0" algn="l" rtl="0">
              <a:lnSpc>
                <a:spcPct val="95000"/>
              </a:lnSpc>
              <a:spcBef>
                <a:spcPts val="1200"/>
              </a:spcBef>
              <a:spcAft>
                <a:spcPts val="1200"/>
              </a:spcAft>
              <a:buSzPts val="770"/>
              <a:buNone/>
            </a:pPr>
            <a:endParaRPr sz="900">
              <a:solidFill>
                <a:srgbClr val="000000"/>
              </a:solidFill>
              <a:latin typeface="Arial"/>
              <a:ea typeface="Arial"/>
              <a:cs typeface="Arial"/>
              <a:sym typeface="Arial"/>
            </a:endParaRPr>
          </a:p>
        </p:txBody>
      </p:sp>
      <p:sp>
        <p:nvSpPr>
          <p:cNvPr id="135" name="Google Shape;135;p20"/>
          <p:cNvSpPr txBox="1"/>
          <p:nvPr/>
        </p:nvSpPr>
        <p:spPr>
          <a:xfrm>
            <a:off x="3494275" y="1193838"/>
            <a:ext cx="2663400" cy="2856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CA" sz="900" b="1" dirty="0"/>
              <a:t>Labeling Criteria;</a:t>
            </a:r>
            <a:endParaRPr sz="900" b="1" dirty="0"/>
          </a:p>
          <a:p>
            <a:pPr marL="0" lvl="0" indent="0" algn="l" rtl="0">
              <a:lnSpc>
                <a:spcPct val="115000"/>
              </a:lnSpc>
              <a:spcBef>
                <a:spcPts val="1200"/>
              </a:spcBef>
              <a:spcAft>
                <a:spcPts val="0"/>
              </a:spcAft>
              <a:buNone/>
            </a:pPr>
            <a:r>
              <a:rPr lang="en-CA" sz="900" dirty="0"/>
              <a:t>🔸 </a:t>
            </a:r>
            <a:r>
              <a:rPr lang="en-CA" sz="900" b="1" dirty="0" err="1"/>
              <a:t>Oynanış</a:t>
            </a:r>
            <a:r>
              <a:rPr lang="en-CA" sz="900" b="1" dirty="0"/>
              <a:t>:</a:t>
            </a:r>
            <a:br>
              <a:rPr lang="en-CA" sz="900" b="1" dirty="0"/>
            </a:br>
            <a:r>
              <a:rPr lang="en-CA" sz="900" dirty="0"/>
              <a:t>Elements affecting user interaction, including game mechanics, control systems, and difficulty levels.</a:t>
            </a:r>
            <a:br>
              <a:rPr lang="en-CA" sz="900" dirty="0"/>
            </a:br>
            <a:r>
              <a:rPr lang="en-CA" sz="900" dirty="0"/>
              <a:t> Labels: </a:t>
            </a:r>
            <a:r>
              <a:rPr lang="en-CA" sz="900" b="1" dirty="0" err="1"/>
              <a:t>Olumlu</a:t>
            </a:r>
            <a:r>
              <a:rPr lang="en-CA" sz="900" dirty="0"/>
              <a:t>, </a:t>
            </a:r>
            <a:r>
              <a:rPr lang="en-CA" sz="900" b="1" dirty="0" err="1"/>
              <a:t>Olumsuz</a:t>
            </a:r>
            <a:r>
              <a:rPr lang="en-CA" sz="900" dirty="0"/>
              <a:t>, </a:t>
            </a:r>
            <a:r>
              <a:rPr lang="en-CA" sz="900" b="1" dirty="0" err="1"/>
              <a:t>Nötr</a:t>
            </a:r>
            <a:endParaRPr sz="900" b="1" dirty="0"/>
          </a:p>
          <a:p>
            <a:pPr marL="0" lvl="0" indent="0" algn="l" rtl="0">
              <a:lnSpc>
                <a:spcPct val="115000"/>
              </a:lnSpc>
              <a:spcBef>
                <a:spcPts val="1200"/>
              </a:spcBef>
              <a:spcAft>
                <a:spcPts val="0"/>
              </a:spcAft>
              <a:buNone/>
            </a:pPr>
            <a:r>
              <a:rPr lang="en-CA" sz="900" dirty="0"/>
              <a:t>🔸 </a:t>
            </a:r>
            <a:r>
              <a:rPr lang="en-CA" sz="900" b="1" dirty="0" err="1"/>
              <a:t>Yapay</a:t>
            </a:r>
            <a:r>
              <a:rPr lang="en-CA" sz="900" b="1" dirty="0"/>
              <a:t> </a:t>
            </a:r>
            <a:r>
              <a:rPr lang="en-CA" sz="900" b="1" dirty="0" err="1"/>
              <a:t>Zekâ</a:t>
            </a:r>
            <a:r>
              <a:rPr lang="en-CA" sz="900" b="1" dirty="0"/>
              <a:t> (AI):</a:t>
            </a:r>
            <a:br>
              <a:rPr lang="en-CA" sz="900" b="1" dirty="0"/>
            </a:br>
            <a:r>
              <a:rPr lang="en-CA" sz="900" dirty="0"/>
              <a:t> Comments related to NPC behavior, opponents' reactions, and learning algorithms..</a:t>
            </a:r>
            <a:br>
              <a:rPr lang="en-CA" sz="900" dirty="0"/>
            </a:br>
            <a:r>
              <a:rPr lang="en-CA" sz="900" dirty="0"/>
              <a:t> Labels: </a:t>
            </a:r>
            <a:r>
              <a:rPr lang="en-CA" sz="900" b="1" dirty="0" err="1"/>
              <a:t>Olumlu</a:t>
            </a:r>
            <a:r>
              <a:rPr lang="en-CA" sz="900" dirty="0"/>
              <a:t>, </a:t>
            </a:r>
            <a:r>
              <a:rPr lang="en-CA" sz="900" b="1" dirty="0" err="1"/>
              <a:t>Olumsuz</a:t>
            </a:r>
            <a:r>
              <a:rPr lang="en-CA" sz="900" dirty="0"/>
              <a:t>, </a:t>
            </a:r>
            <a:r>
              <a:rPr lang="en-CA" sz="900" b="1" dirty="0" err="1"/>
              <a:t>Nötr</a:t>
            </a:r>
            <a:endParaRPr sz="900" b="1" dirty="0"/>
          </a:p>
          <a:p>
            <a:pPr marL="0" lvl="0" indent="0" algn="l" rtl="0">
              <a:lnSpc>
                <a:spcPct val="115000"/>
              </a:lnSpc>
              <a:spcBef>
                <a:spcPts val="1200"/>
              </a:spcBef>
              <a:spcAft>
                <a:spcPts val="1200"/>
              </a:spcAft>
              <a:buNone/>
            </a:pPr>
            <a:r>
              <a:rPr lang="en-CA" sz="900" dirty="0"/>
              <a:t>🔸 </a:t>
            </a:r>
            <a:r>
              <a:rPr lang="en-CA" sz="900" b="1" dirty="0" err="1"/>
              <a:t>Grafik</a:t>
            </a:r>
            <a:r>
              <a:rPr lang="en-CA" sz="900" b="1" dirty="0"/>
              <a:t>:</a:t>
            </a:r>
            <a:br>
              <a:rPr lang="en-CA" sz="900" b="1" dirty="0"/>
            </a:br>
            <a:r>
              <a:rPr lang="en-CA" sz="900" dirty="0"/>
              <a:t>Comments concerning visual quality, animation quality, art style, and user interface elements.</a:t>
            </a:r>
            <a:br>
              <a:rPr lang="en-CA" sz="900" dirty="0"/>
            </a:br>
            <a:r>
              <a:rPr lang="en-CA" sz="900" dirty="0"/>
              <a:t> Labels: </a:t>
            </a:r>
            <a:r>
              <a:rPr lang="en-CA" sz="900" b="1" dirty="0" err="1"/>
              <a:t>Olumlu</a:t>
            </a:r>
            <a:r>
              <a:rPr lang="en-CA" sz="900" dirty="0"/>
              <a:t>, </a:t>
            </a:r>
            <a:r>
              <a:rPr lang="en-CA" sz="900" b="1" dirty="0" err="1"/>
              <a:t>Olumsuz</a:t>
            </a:r>
            <a:r>
              <a:rPr lang="en-CA" sz="900" dirty="0"/>
              <a:t>, </a:t>
            </a:r>
            <a:r>
              <a:rPr lang="en-CA" sz="900" b="1" dirty="0" err="1"/>
              <a:t>Nötr</a:t>
            </a:r>
            <a:endParaRPr sz="900" b="1" dirty="0"/>
          </a:p>
        </p:txBody>
      </p:sp>
      <p:pic>
        <p:nvPicPr>
          <p:cNvPr id="136" name="Google Shape;136;p20"/>
          <p:cNvPicPr preferRelativeResize="0"/>
          <p:nvPr/>
        </p:nvPicPr>
        <p:blipFill>
          <a:blip r:embed="rId3">
            <a:alphaModFix/>
          </a:blip>
          <a:stretch>
            <a:fillRect/>
          </a:stretch>
        </p:blipFill>
        <p:spPr>
          <a:xfrm>
            <a:off x="641100" y="4097837"/>
            <a:ext cx="2419450" cy="747950"/>
          </a:xfrm>
          <a:prstGeom prst="rect">
            <a:avLst/>
          </a:prstGeom>
          <a:noFill/>
          <a:ln>
            <a:noFill/>
          </a:ln>
        </p:spPr>
      </p:pic>
      <p:pic>
        <p:nvPicPr>
          <p:cNvPr id="137" name="Google Shape;137;p20"/>
          <p:cNvPicPr preferRelativeResize="0"/>
          <p:nvPr/>
        </p:nvPicPr>
        <p:blipFill>
          <a:blip r:embed="rId4">
            <a:alphaModFix/>
          </a:blip>
          <a:stretch>
            <a:fillRect/>
          </a:stretch>
        </p:blipFill>
        <p:spPr>
          <a:xfrm>
            <a:off x="3312138" y="4105063"/>
            <a:ext cx="2606400" cy="733470"/>
          </a:xfrm>
          <a:prstGeom prst="rect">
            <a:avLst/>
          </a:prstGeom>
          <a:noFill/>
          <a:ln>
            <a:noFill/>
          </a:ln>
        </p:spPr>
      </p:pic>
      <p:pic>
        <p:nvPicPr>
          <p:cNvPr id="138" name="Google Shape;138;p20"/>
          <p:cNvPicPr preferRelativeResize="0"/>
          <p:nvPr/>
        </p:nvPicPr>
        <p:blipFill>
          <a:blip r:embed="rId5">
            <a:alphaModFix/>
          </a:blip>
          <a:stretch>
            <a:fillRect/>
          </a:stretch>
        </p:blipFill>
        <p:spPr>
          <a:xfrm>
            <a:off x="6338438" y="4097813"/>
            <a:ext cx="2683012" cy="747950"/>
          </a:xfrm>
          <a:prstGeom prst="rect">
            <a:avLst/>
          </a:prstGeom>
          <a:noFill/>
          <a:ln>
            <a:noFill/>
          </a:ln>
        </p:spPr>
      </p:pic>
      <p:sp>
        <p:nvSpPr>
          <p:cNvPr id="139" name="Google Shape;139;p20"/>
          <p:cNvSpPr txBox="1"/>
          <p:nvPr/>
        </p:nvSpPr>
        <p:spPr>
          <a:xfrm>
            <a:off x="6157675" y="1402050"/>
            <a:ext cx="2606400" cy="223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CA" sz="900" b="1" dirty="0"/>
              <a:t>Labeling System;</a:t>
            </a:r>
            <a:endParaRPr sz="900" b="1" dirty="0"/>
          </a:p>
          <a:p>
            <a:pPr marL="0" lvl="0" indent="0" algn="l" rtl="0">
              <a:lnSpc>
                <a:spcPct val="115000"/>
              </a:lnSpc>
              <a:spcBef>
                <a:spcPts val="1200"/>
              </a:spcBef>
              <a:spcAft>
                <a:spcPts val="0"/>
              </a:spcAft>
              <a:buNone/>
            </a:pPr>
            <a:r>
              <a:rPr lang="en-CA" sz="900" dirty="0"/>
              <a:t>Each review was labeled according to:</a:t>
            </a:r>
            <a:endParaRPr sz="900" dirty="0"/>
          </a:p>
          <a:p>
            <a:pPr marL="457200" lvl="0" indent="-285750" algn="l" rtl="0">
              <a:lnSpc>
                <a:spcPct val="115000"/>
              </a:lnSpc>
              <a:spcBef>
                <a:spcPts val="1200"/>
              </a:spcBef>
              <a:spcAft>
                <a:spcPts val="0"/>
              </a:spcAft>
              <a:buSzPts val="900"/>
              <a:buChar char="●"/>
            </a:pPr>
            <a:r>
              <a:rPr lang="en-CA" sz="900" b="1" dirty="0"/>
              <a:t>Aspect</a:t>
            </a:r>
            <a:r>
              <a:rPr lang="en-CA" sz="900" dirty="0"/>
              <a:t> (Gameplay, AI, Graphics)</a:t>
            </a:r>
            <a:endParaRPr sz="900" dirty="0"/>
          </a:p>
          <a:p>
            <a:pPr marL="457200" lvl="0" indent="-285750" algn="l" rtl="0">
              <a:lnSpc>
                <a:spcPct val="115000"/>
              </a:lnSpc>
              <a:spcBef>
                <a:spcPts val="0"/>
              </a:spcBef>
              <a:spcAft>
                <a:spcPts val="0"/>
              </a:spcAft>
              <a:buSzPts val="900"/>
              <a:buChar char="●"/>
            </a:pPr>
            <a:r>
              <a:rPr lang="en-CA" sz="900" b="1" dirty="0"/>
              <a:t>Sentiment</a:t>
            </a:r>
            <a:r>
              <a:rPr lang="en-CA" sz="900" dirty="0"/>
              <a:t> (Positive, Negative)</a:t>
            </a:r>
            <a:endParaRPr sz="900" dirty="0"/>
          </a:p>
          <a:p>
            <a:pPr marL="0" lvl="0" indent="0" algn="l" rtl="0">
              <a:lnSpc>
                <a:spcPct val="115000"/>
              </a:lnSpc>
              <a:spcBef>
                <a:spcPts val="1400"/>
              </a:spcBef>
              <a:spcAft>
                <a:spcPts val="0"/>
              </a:spcAft>
              <a:buNone/>
            </a:pPr>
            <a:r>
              <a:rPr lang="en-CA" sz="900" b="1" dirty="0"/>
              <a:t>Labeling Schema:</a:t>
            </a:r>
            <a:endParaRPr sz="500" dirty="0"/>
          </a:p>
          <a:p>
            <a:pPr marL="914400" lvl="1" indent="-285750" algn="l" rtl="0">
              <a:lnSpc>
                <a:spcPct val="115000"/>
              </a:lnSpc>
              <a:spcBef>
                <a:spcPts val="1200"/>
              </a:spcBef>
              <a:spcAft>
                <a:spcPts val="0"/>
              </a:spcAft>
              <a:buSzPts val="900"/>
              <a:buChar char="○"/>
            </a:pPr>
            <a:r>
              <a:rPr lang="en-CA" sz="900" b="1" dirty="0"/>
              <a:t>ASPECT-KEYWORDS:</a:t>
            </a:r>
            <a:r>
              <a:rPr lang="en-CA" sz="900" dirty="0"/>
              <a:t> Graphics, AI, Gameplay</a:t>
            </a:r>
            <a:endParaRPr sz="900" dirty="0"/>
          </a:p>
          <a:p>
            <a:pPr marL="914400" lvl="1" indent="-285750" algn="l" rtl="0">
              <a:lnSpc>
                <a:spcPct val="115000"/>
              </a:lnSpc>
              <a:spcBef>
                <a:spcPts val="0"/>
              </a:spcBef>
              <a:spcAft>
                <a:spcPts val="0"/>
              </a:spcAft>
              <a:buSzPts val="900"/>
              <a:buChar char="○"/>
            </a:pPr>
            <a:r>
              <a:rPr lang="en-CA" sz="900" b="1" dirty="0"/>
              <a:t>SENTIMENT-WORDS:</a:t>
            </a:r>
            <a:r>
              <a:rPr lang="en-CA" sz="900" dirty="0"/>
              <a:t> Positive, Negative</a:t>
            </a:r>
            <a:endParaRPr sz="7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427225" y="5218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2400">
                <a:latin typeface="Arial"/>
                <a:ea typeface="Arial"/>
                <a:cs typeface="Arial"/>
                <a:sym typeface="Arial"/>
              </a:rPr>
              <a:t>Labeling Examples</a:t>
            </a:r>
            <a:endParaRPr sz="2400">
              <a:latin typeface="Arial"/>
              <a:ea typeface="Arial"/>
              <a:cs typeface="Arial"/>
              <a:sym typeface="Arial"/>
            </a:endParaRPr>
          </a:p>
        </p:txBody>
      </p:sp>
      <p:sp>
        <p:nvSpPr>
          <p:cNvPr id="145" name="Google Shape;145;p21"/>
          <p:cNvSpPr txBox="1">
            <a:spLocks noGrp="1"/>
          </p:cNvSpPr>
          <p:nvPr>
            <p:ph type="body" idx="1"/>
          </p:nvPr>
        </p:nvSpPr>
        <p:spPr>
          <a:xfrm>
            <a:off x="207425" y="1318725"/>
            <a:ext cx="2687400" cy="1946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Dünyanın en iyi 5 oyunundan biri</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120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p:txBody>
      </p:sp>
      <p:sp>
        <p:nvSpPr>
          <p:cNvPr id="146" name="Google Shape;146;p21"/>
          <p:cNvSpPr txBox="1">
            <a:spLocks noGrp="1"/>
          </p:cNvSpPr>
          <p:nvPr>
            <p:ph type="body" idx="1"/>
          </p:nvPr>
        </p:nvSpPr>
        <p:spPr>
          <a:xfrm>
            <a:off x="3020700" y="1318800"/>
            <a:ext cx="3102600" cy="1946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“Oyunda ilk başta çok zorlandım ancak oyunu çözdüğüm zaman çok zevk aldım adeta başyapıt”</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120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latin typeface="Arial"/>
              <a:ea typeface="Arial"/>
              <a:cs typeface="Arial"/>
              <a:sym typeface="Arial"/>
            </a:endParaRPr>
          </a:p>
        </p:txBody>
      </p:sp>
      <p:sp>
        <p:nvSpPr>
          <p:cNvPr id="147" name="Google Shape;147;p21"/>
          <p:cNvSpPr txBox="1">
            <a:spLocks noGrp="1"/>
          </p:cNvSpPr>
          <p:nvPr>
            <p:ph type="body" idx="1"/>
          </p:nvPr>
        </p:nvSpPr>
        <p:spPr>
          <a:xfrm>
            <a:off x="6225000" y="1318800"/>
            <a:ext cx="2777700" cy="19461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“Atmosfer çok iyi ama boss’lar çok güçlü hep öldüm”</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:Nötr</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marL="0" lvl="0" indent="0" algn="l" rtl="0">
              <a:spcBef>
                <a:spcPts val="1200"/>
              </a:spcBef>
              <a:spcAft>
                <a:spcPts val="120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:Olumsuz</a:t>
            </a:r>
            <a:endParaRPr sz="1000">
              <a:latin typeface="Arial"/>
              <a:ea typeface="Arial"/>
              <a:cs typeface="Arial"/>
              <a:sym typeface="Arial"/>
            </a:endParaRPr>
          </a:p>
        </p:txBody>
      </p:sp>
      <p:sp>
        <p:nvSpPr>
          <p:cNvPr id="148" name="Google Shape;148;p21"/>
          <p:cNvSpPr txBox="1">
            <a:spLocks noGrp="1"/>
          </p:cNvSpPr>
          <p:nvPr>
            <p:ph type="body" idx="1"/>
          </p:nvPr>
        </p:nvSpPr>
        <p:spPr>
          <a:xfrm>
            <a:off x="207425" y="3349525"/>
            <a:ext cx="2687400" cy="1815300"/>
          </a:xfrm>
          <a:prstGeom prst="rect">
            <a:avLst/>
          </a:prstGeom>
          <a:ln w="9525" cap="flat" cmpd="sng">
            <a:solidFill>
              <a:schemeClr val="dk2"/>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“Çok rezalet oyun sakın almayın”</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marL="0" lvl="0" indent="0" algn="l" rtl="0">
              <a:spcBef>
                <a:spcPts val="1200"/>
              </a:spcBef>
              <a:spcAft>
                <a:spcPts val="1200"/>
              </a:spcAft>
              <a:buNone/>
            </a:pPr>
            <a:r>
              <a:rPr lang="en-CA" sz="1000">
                <a:solidFill>
                  <a:schemeClr val="dk2"/>
                </a:solidFill>
                <a:latin typeface="Arial"/>
                <a:ea typeface="Arial"/>
                <a:cs typeface="Arial"/>
                <a:sym typeface="Arial"/>
              </a:rPr>
              <a:t>∗ </a:t>
            </a:r>
            <a:r>
              <a:rPr lang="en-CA" sz="1000" b="1">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Olumsuz</a:t>
            </a:r>
            <a:endParaRPr sz="1000">
              <a:latin typeface="Arial"/>
              <a:ea typeface="Arial"/>
              <a:cs typeface="Arial"/>
              <a:sym typeface="Arial"/>
            </a:endParaRPr>
          </a:p>
        </p:txBody>
      </p:sp>
      <p:sp>
        <p:nvSpPr>
          <p:cNvPr id="149" name="Google Shape;149;p21"/>
          <p:cNvSpPr txBox="1"/>
          <p:nvPr/>
        </p:nvSpPr>
        <p:spPr>
          <a:xfrm>
            <a:off x="3020700" y="3337525"/>
            <a:ext cx="3102600" cy="183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CA" sz="1000">
                <a:solidFill>
                  <a:schemeClr val="dk2"/>
                </a:solidFill>
              </a:rPr>
              <a:t>∗ </a:t>
            </a:r>
            <a:r>
              <a:rPr lang="en-CA" sz="1000" b="1">
                <a:solidFill>
                  <a:schemeClr val="dk2"/>
                </a:solidFill>
              </a:rPr>
              <a:t>Cümle </a:t>
            </a:r>
            <a:r>
              <a:rPr lang="en-CA" sz="1000">
                <a:solidFill>
                  <a:schemeClr val="dk2"/>
                </a:solidFill>
              </a:rPr>
              <a:t>= “Rakiplerin tepkileri çok akıllıca, savaşlar heyecan verici ama görseller biraz sıradan kalmış.”</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Genel Duygu</a:t>
            </a:r>
            <a:r>
              <a:rPr lang="en-CA" sz="1000">
                <a:solidFill>
                  <a:schemeClr val="dk2"/>
                </a:solidFill>
              </a:rPr>
              <a:t>: Olumlu</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Yapay Zeka</a:t>
            </a:r>
            <a:r>
              <a:rPr lang="en-CA" sz="1000">
                <a:solidFill>
                  <a:schemeClr val="dk2"/>
                </a:solidFill>
              </a:rPr>
              <a:t>: Olumlu</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Grafik</a:t>
            </a:r>
            <a:r>
              <a:rPr lang="en-CA" sz="1000">
                <a:solidFill>
                  <a:schemeClr val="dk2"/>
                </a:solidFill>
              </a:rPr>
              <a:t>: Olumsuz</a:t>
            </a:r>
            <a:endParaRPr sz="1000">
              <a:solidFill>
                <a:schemeClr val="dk2"/>
              </a:solidFill>
            </a:endParaRPr>
          </a:p>
          <a:p>
            <a:pPr marL="0" lvl="0" indent="0" algn="l" rtl="0">
              <a:lnSpc>
                <a:spcPct val="115000"/>
              </a:lnSpc>
              <a:spcBef>
                <a:spcPts val="1200"/>
              </a:spcBef>
              <a:spcAft>
                <a:spcPts val="1200"/>
              </a:spcAft>
              <a:buNone/>
            </a:pPr>
            <a:r>
              <a:rPr lang="en-CA" sz="1000">
                <a:solidFill>
                  <a:schemeClr val="dk2"/>
                </a:solidFill>
              </a:rPr>
              <a:t>∗ </a:t>
            </a:r>
            <a:r>
              <a:rPr lang="en-CA" sz="1000" b="1">
                <a:solidFill>
                  <a:schemeClr val="dk2"/>
                </a:solidFill>
              </a:rPr>
              <a:t>Oynanış</a:t>
            </a:r>
            <a:r>
              <a:rPr lang="en-CA" sz="1000">
                <a:solidFill>
                  <a:schemeClr val="dk2"/>
                </a:solidFill>
              </a:rPr>
              <a:t>: Olumlu</a:t>
            </a:r>
            <a:endParaRPr sz="1000">
              <a:solidFill>
                <a:schemeClr val="accent1"/>
              </a:solidFill>
            </a:endParaRPr>
          </a:p>
        </p:txBody>
      </p:sp>
      <p:sp>
        <p:nvSpPr>
          <p:cNvPr id="150" name="Google Shape;150;p21"/>
          <p:cNvSpPr txBox="1"/>
          <p:nvPr/>
        </p:nvSpPr>
        <p:spPr>
          <a:xfrm>
            <a:off x="6249175" y="3337525"/>
            <a:ext cx="2777700" cy="183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CA" sz="1000">
                <a:solidFill>
                  <a:schemeClr val="dk2"/>
                </a:solidFill>
              </a:rPr>
              <a:t>∗ </a:t>
            </a:r>
            <a:r>
              <a:rPr lang="en-CA" sz="1000" b="1">
                <a:solidFill>
                  <a:schemeClr val="dk2"/>
                </a:solidFill>
              </a:rPr>
              <a:t>Cümle </a:t>
            </a:r>
            <a:r>
              <a:rPr lang="en-CA" sz="1000">
                <a:solidFill>
                  <a:schemeClr val="dk2"/>
                </a:solidFill>
              </a:rPr>
              <a:t>= “Görsel atmosfer büyüleyici, ama optimizasyon berbat ve kontroller gecikmeli.”</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Genel Duygu</a:t>
            </a:r>
            <a:r>
              <a:rPr lang="en-CA" sz="1000">
                <a:solidFill>
                  <a:schemeClr val="dk2"/>
                </a:solidFill>
              </a:rPr>
              <a:t>:Olumsuz</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Yapay Zeka</a:t>
            </a:r>
            <a:r>
              <a:rPr lang="en-CA" sz="1000">
                <a:solidFill>
                  <a:schemeClr val="dk2"/>
                </a:solidFill>
              </a:rPr>
              <a:t>: Nötr</a:t>
            </a:r>
            <a:endParaRPr sz="1000">
              <a:solidFill>
                <a:schemeClr val="dk2"/>
              </a:solidFill>
            </a:endParaRPr>
          </a:p>
          <a:p>
            <a:pPr marL="0" lvl="0" indent="0" algn="l" rtl="0">
              <a:lnSpc>
                <a:spcPct val="115000"/>
              </a:lnSpc>
              <a:spcBef>
                <a:spcPts val="1200"/>
              </a:spcBef>
              <a:spcAft>
                <a:spcPts val="0"/>
              </a:spcAft>
              <a:buNone/>
            </a:pPr>
            <a:r>
              <a:rPr lang="en-CA" sz="1000">
                <a:solidFill>
                  <a:schemeClr val="dk2"/>
                </a:solidFill>
              </a:rPr>
              <a:t>∗ </a:t>
            </a:r>
            <a:r>
              <a:rPr lang="en-CA" sz="1000" b="1">
                <a:solidFill>
                  <a:schemeClr val="dk2"/>
                </a:solidFill>
              </a:rPr>
              <a:t>Grafik</a:t>
            </a:r>
            <a:r>
              <a:rPr lang="en-CA" sz="1000">
                <a:solidFill>
                  <a:schemeClr val="dk2"/>
                </a:solidFill>
              </a:rPr>
              <a:t>: Olumlu</a:t>
            </a:r>
            <a:endParaRPr sz="1000">
              <a:solidFill>
                <a:schemeClr val="dk2"/>
              </a:solidFill>
            </a:endParaRPr>
          </a:p>
          <a:p>
            <a:pPr marL="0" lvl="0" indent="0" algn="l" rtl="0">
              <a:lnSpc>
                <a:spcPct val="115000"/>
              </a:lnSpc>
              <a:spcBef>
                <a:spcPts val="1200"/>
              </a:spcBef>
              <a:spcAft>
                <a:spcPts val="1200"/>
              </a:spcAft>
              <a:buNone/>
            </a:pPr>
            <a:r>
              <a:rPr lang="en-CA" sz="1000">
                <a:solidFill>
                  <a:schemeClr val="dk2"/>
                </a:solidFill>
              </a:rPr>
              <a:t>∗ </a:t>
            </a:r>
            <a:r>
              <a:rPr lang="en-CA" sz="1000" b="1">
                <a:solidFill>
                  <a:schemeClr val="dk2"/>
                </a:solidFill>
              </a:rPr>
              <a:t>Oynanış</a:t>
            </a:r>
            <a:r>
              <a:rPr lang="en-CA" sz="1000">
                <a:solidFill>
                  <a:schemeClr val="dk2"/>
                </a:solidFill>
              </a:rPr>
              <a:t>:Olumsuz</a:t>
            </a:r>
            <a:endParaRPr sz="10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2"/>
          <p:cNvSpPr txBox="1">
            <a:spLocks noGrp="1"/>
          </p:cNvSpPr>
          <p:nvPr>
            <p:ph type="title"/>
          </p:nvPr>
        </p:nvSpPr>
        <p:spPr>
          <a:xfrm>
            <a:off x="727650" y="6349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CA" sz="2440">
                <a:solidFill>
                  <a:srgbClr val="000000"/>
                </a:solidFill>
              </a:rPr>
              <a:t>Models And Algorithms</a:t>
            </a:r>
            <a:endParaRPr sz="2440">
              <a:solidFill>
                <a:srgbClr val="000000"/>
              </a:solidFill>
            </a:endParaRPr>
          </a:p>
        </p:txBody>
      </p:sp>
      <p:sp>
        <p:nvSpPr>
          <p:cNvPr id="156" name="Google Shape;156;p22"/>
          <p:cNvSpPr txBox="1">
            <a:spLocks noGrp="1"/>
          </p:cNvSpPr>
          <p:nvPr>
            <p:ph type="body" idx="1"/>
          </p:nvPr>
        </p:nvSpPr>
        <p:spPr>
          <a:xfrm>
            <a:off x="727650" y="1184525"/>
            <a:ext cx="7688700" cy="3867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SzPts val="1018"/>
              <a:buNone/>
            </a:pPr>
            <a:r>
              <a:rPr lang="en-CA" sz="902">
                <a:solidFill>
                  <a:srgbClr val="000000"/>
                </a:solidFill>
                <a:latin typeface="Arial"/>
                <a:ea typeface="Arial"/>
                <a:cs typeface="Arial"/>
                <a:sym typeface="Arial"/>
              </a:rPr>
              <a:t>In this project, two different models for sentiment analysis of Turkish game reviews were implemented and compared:</a:t>
            </a:r>
            <a:endParaRPr sz="902">
              <a:solidFill>
                <a:srgbClr val="000000"/>
              </a:solidFill>
              <a:latin typeface="Arial"/>
              <a:ea typeface="Arial"/>
              <a:cs typeface="Arial"/>
              <a:sym typeface="Arial"/>
            </a:endParaRPr>
          </a:p>
        </p:txBody>
      </p:sp>
      <p:sp>
        <p:nvSpPr>
          <p:cNvPr id="157" name="Google Shape;157;p22"/>
          <p:cNvSpPr txBox="1">
            <a:spLocks noGrp="1"/>
          </p:cNvSpPr>
          <p:nvPr>
            <p:ph type="body" idx="1"/>
          </p:nvPr>
        </p:nvSpPr>
        <p:spPr>
          <a:xfrm>
            <a:off x="212525" y="1441300"/>
            <a:ext cx="4611900" cy="3064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CA" sz="900" b="1">
                <a:solidFill>
                  <a:srgbClr val="000000"/>
                </a:solidFill>
                <a:latin typeface="Arial"/>
                <a:ea typeface="Arial"/>
                <a:cs typeface="Arial"/>
                <a:sym typeface="Arial"/>
              </a:rPr>
              <a:t>1. BERT-Based Sentiment Analysis Model</a:t>
            </a:r>
            <a:br>
              <a:rPr lang="en-CA" sz="900" b="1">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lang="en-CA" sz="900" b="1">
                <a:solidFill>
                  <a:srgbClr val="000000"/>
                </a:solidFill>
                <a:latin typeface="Arial"/>
                <a:ea typeface="Arial"/>
                <a:cs typeface="Arial"/>
                <a:sym typeface="Arial"/>
              </a:rPr>
              <a:t>Model</a:t>
            </a:r>
            <a:r>
              <a:rPr lang="en-CA" sz="900">
                <a:solidFill>
                  <a:srgbClr val="000000"/>
                </a:solidFill>
                <a:latin typeface="Arial"/>
                <a:ea typeface="Arial"/>
                <a:cs typeface="Arial"/>
                <a:sym typeface="Arial"/>
              </a:rPr>
              <a:t>: bert-base-turkish-cased (HuggingFace Transformers)</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lang="en-CA" sz="900" b="1">
                <a:solidFill>
                  <a:srgbClr val="000000"/>
                </a:solidFill>
                <a:latin typeface="Arial"/>
                <a:ea typeface="Arial"/>
                <a:cs typeface="Arial"/>
                <a:sym typeface="Arial"/>
              </a:rPr>
              <a:t>Training Objective</a:t>
            </a:r>
            <a:r>
              <a:rPr lang="en-CA" sz="900">
                <a:solidFill>
                  <a:srgbClr val="000000"/>
                </a:solidFill>
                <a:latin typeface="Arial"/>
                <a:ea typeface="Arial"/>
                <a:cs typeface="Arial"/>
                <a:sym typeface="Arial"/>
              </a:rPr>
              <a:t>: general sentiment classification (Positive, Negative, Neutral)</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lang="en-CA" sz="900" b="1">
                <a:solidFill>
                  <a:srgbClr val="000000"/>
                </a:solidFill>
                <a:latin typeface="Arial"/>
                <a:ea typeface="Arial"/>
                <a:cs typeface="Arial"/>
                <a:sym typeface="Arial"/>
              </a:rPr>
              <a:t>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marL="457200" lvl="0" indent="-285750" algn="l" rtl="0">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Processes contextual information bidirectionally</a:t>
            </a:r>
            <a:endParaRPr sz="900">
              <a:solidFill>
                <a:srgbClr val="000000"/>
              </a:solidFill>
              <a:latin typeface="Arial"/>
              <a:ea typeface="Arial"/>
              <a:cs typeface="Arial"/>
              <a:sym typeface="Arial"/>
            </a:endParaRPr>
          </a:p>
          <a:p>
            <a:pPr marL="457200" lvl="0" indent="-285750" algn="l" rtl="0">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Demonstrates high performance on morphologically rich Turkish</a:t>
            </a:r>
            <a:endParaRPr sz="900">
              <a:solidFill>
                <a:srgbClr val="000000"/>
              </a:solidFill>
              <a:latin typeface="Arial"/>
              <a:ea typeface="Arial"/>
              <a:cs typeface="Arial"/>
              <a:sym typeface="Arial"/>
            </a:endParaRPr>
          </a:p>
          <a:p>
            <a:pPr marL="457200" lvl="0" indent="-285750" algn="l" rtl="0">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Architecture is extensible for feature-level analysis</a:t>
            </a:r>
            <a:endParaRPr sz="900">
              <a:solidFill>
                <a:srgbClr val="000000"/>
              </a:solidFill>
              <a:latin typeface="Arial"/>
              <a:ea typeface="Arial"/>
              <a:cs typeface="Arial"/>
              <a:sym typeface="Arial"/>
            </a:endParaRPr>
          </a:p>
          <a:p>
            <a:pPr marL="0" lvl="0" indent="0" algn="l" rtl="0">
              <a:spcBef>
                <a:spcPts val="1200"/>
              </a:spcBef>
              <a:spcAft>
                <a:spcPts val="0"/>
              </a:spcAft>
              <a:buNone/>
            </a:pPr>
            <a:r>
              <a:rPr lang="en-CA" sz="900">
                <a:solidFill>
                  <a:srgbClr val="000000"/>
                </a:solidFill>
                <a:latin typeface="Arial"/>
                <a:ea typeface="Arial"/>
                <a:cs typeface="Arial"/>
                <a:sym typeface="Arial"/>
              </a:rPr>
              <a:t>🔹 </a:t>
            </a:r>
            <a:r>
              <a:rPr lang="en-CA" sz="900" b="1">
                <a:solidFill>
                  <a:srgbClr val="000000"/>
                </a:solidFill>
                <a:latin typeface="Arial"/>
                <a:ea typeface="Arial"/>
                <a:cs typeface="Arial"/>
                <a:sym typeface="Arial"/>
              </a:rPr>
              <a:t>Disadvantages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marL="457200" lvl="0" indent="-285750" algn="l" rtl="0">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Substantial computational cost</a:t>
            </a:r>
            <a:endParaRPr sz="900">
              <a:solidFill>
                <a:srgbClr val="000000"/>
              </a:solidFill>
              <a:latin typeface="Arial"/>
              <a:ea typeface="Arial"/>
              <a:cs typeface="Arial"/>
              <a:sym typeface="Arial"/>
            </a:endParaRPr>
          </a:p>
          <a:p>
            <a:pPr marL="457200" lvl="0" indent="-285750" algn="l" rtl="0">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Large parameter footprint (GPU requirement)</a:t>
            </a:r>
            <a:endParaRPr sz="900">
              <a:solidFill>
                <a:srgbClr val="000000"/>
              </a:solidFill>
              <a:latin typeface="Arial"/>
              <a:ea typeface="Arial"/>
              <a:cs typeface="Arial"/>
              <a:sym typeface="Arial"/>
            </a:endParaRPr>
          </a:p>
          <a:p>
            <a:pPr marL="0" lvl="0" indent="0" algn="l" rtl="0">
              <a:spcBef>
                <a:spcPts val="1200"/>
              </a:spcBef>
              <a:spcAft>
                <a:spcPts val="0"/>
              </a:spcAft>
              <a:buNone/>
            </a:pPr>
            <a:r>
              <a:rPr lang="en-CA" sz="900">
                <a:solidFill>
                  <a:srgbClr val="000000"/>
                </a:solidFill>
                <a:latin typeface="Arial"/>
                <a:ea typeface="Arial"/>
                <a:cs typeface="Arial"/>
                <a:sym typeface="Arial"/>
              </a:rPr>
              <a:t>🔹 </a:t>
            </a:r>
            <a:r>
              <a:rPr lang="en-CA" sz="900" b="1">
                <a:solidFill>
                  <a:srgbClr val="000000"/>
                </a:solidFill>
                <a:latin typeface="Arial"/>
                <a:ea typeface="Arial"/>
                <a:cs typeface="Arial"/>
                <a:sym typeface="Arial"/>
              </a:rPr>
              <a:t>Flexibility</a:t>
            </a:r>
            <a:r>
              <a:rPr lang="en-CA" sz="900">
                <a:solidFill>
                  <a:srgbClr val="000000"/>
                </a:solidFill>
                <a:latin typeface="Arial"/>
                <a:ea typeface="Arial"/>
                <a:cs typeface="Arial"/>
                <a:sym typeface="Arial"/>
              </a:rPr>
              <a:t>: enables versatile analysis by training dedicated models for each game feature.</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lang="en-CA" sz="900" b="1">
                <a:solidFill>
                  <a:srgbClr val="000000"/>
                </a:solidFill>
                <a:latin typeface="Arial"/>
                <a:ea typeface="Arial"/>
                <a:cs typeface="Arial"/>
                <a:sym typeface="Arial"/>
              </a:rPr>
              <a:t>Benchmark Role</a:t>
            </a:r>
            <a:r>
              <a:rPr lang="en-CA" sz="900">
                <a:solidFill>
                  <a:srgbClr val="000000"/>
                </a:solidFill>
                <a:latin typeface="Arial"/>
                <a:ea typeface="Arial"/>
                <a:cs typeface="Arial"/>
                <a:sym typeface="Arial"/>
              </a:rPr>
              <a:t>: BERT delivers state-of-the-art performance through its contextual strength.</a:t>
            </a:r>
            <a:endParaRPr sz="900">
              <a:solidFill>
                <a:srgbClr val="000000"/>
              </a:solidFill>
              <a:latin typeface="Arial"/>
              <a:ea typeface="Arial"/>
              <a:cs typeface="Arial"/>
              <a:sym typeface="Arial"/>
            </a:endParaRPr>
          </a:p>
          <a:p>
            <a:pPr marL="0" lvl="0" indent="0" algn="l" rtl="0">
              <a:lnSpc>
                <a:spcPct val="105000"/>
              </a:lnSpc>
              <a:spcBef>
                <a:spcPts val="1200"/>
              </a:spcBef>
              <a:spcAft>
                <a:spcPts val="1200"/>
              </a:spcAft>
              <a:buNone/>
            </a:pPr>
            <a:endParaRPr sz="900" b="1">
              <a:solidFill>
                <a:srgbClr val="000000"/>
              </a:solidFill>
              <a:latin typeface="Arial"/>
              <a:ea typeface="Arial"/>
              <a:cs typeface="Arial"/>
              <a:sym typeface="Arial"/>
            </a:endParaRPr>
          </a:p>
        </p:txBody>
      </p:sp>
      <p:sp>
        <p:nvSpPr>
          <p:cNvPr id="158" name="Google Shape;158;p22"/>
          <p:cNvSpPr txBox="1"/>
          <p:nvPr/>
        </p:nvSpPr>
        <p:spPr>
          <a:xfrm>
            <a:off x="4824425" y="1441300"/>
            <a:ext cx="4181400" cy="316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CA" sz="900" b="1"/>
              <a:t>2. TF-IDF + Logistic Regression Baseline</a:t>
            </a:r>
            <a:br>
              <a:rPr lang="en-CA" sz="900" b="1"/>
            </a:br>
            <a:r>
              <a:rPr lang="en-CA" sz="900"/>
              <a:t> 🔹 </a:t>
            </a:r>
            <a:r>
              <a:rPr lang="en-CA" sz="900" b="1"/>
              <a:t>Vectorization</a:t>
            </a:r>
            <a:r>
              <a:rPr lang="en-CA" sz="900"/>
              <a:t>: unigram-based TF-IDF (limited to 2,000 features)</a:t>
            </a:r>
            <a:br>
              <a:rPr lang="en-CA" sz="900"/>
            </a:br>
            <a:r>
              <a:rPr lang="en-CA" sz="900"/>
              <a:t> 🔹 </a:t>
            </a:r>
            <a:r>
              <a:rPr lang="en-CA" sz="900" b="1"/>
              <a:t>Model</a:t>
            </a:r>
            <a:r>
              <a:rPr lang="en-CA" sz="900"/>
              <a:t>: MultiOutputClassifier + Logistic Regression</a:t>
            </a:r>
            <a:br>
              <a:rPr lang="en-CA" sz="900"/>
            </a:br>
            <a:r>
              <a:rPr lang="en-CA" sz="900"/>
              <a:t> 🔹 </a:t>
            </a:r>
            <a:r>
              <a:rPr lang="en-CA" sz="900" b="1"/>
              <a:t>Training</a:t>
            </a:r>
            <a:r>
              <a:rPr lang="en-CA" sz="900"/>
              <a:t>: simultaneous multi-label (gameplay, AI, graphics) and multi-class (positive, negative, neutral) prediction</a:t>
            </a:r>
            <a:br>
              <a:rPr lang="en-CA" sz="900"/>
            </a:br>
            <a:r>
              <a:rPr lang="en-CA" sz="900"/>
              <a:t> 🔹 </a:t>
            </a:r>
            <a:r>
              <a:rPr lang="en-CA" sz="900" b="1"/>
              <a:t>Advantages</a:t>
            </a:r>
            <a:r>
              <a:rPr lang="en-CA" sz="900"/>
              <a:t>:</a:t>
            </a:r>
            <a:endParaRPr sz="900"/>
          </a:p>
          <a:p>
            <a:pPr marL="457200" lvl="0" indent="-285750" algn="l" rtl="0">
              <a:lnSpc>
                <a:spcPct val="115000"/>
              </a:lnSpc>
              <a:spcBef>
                <a:spcPts val="1200"/>
              </a:spcBef>
              <a:spcAft>
                <a:spcPts val="0"/>
              </a:spcAft>
              <a:buSzPts val="900"/>
              <a:buChar char="●"/>
            </a:pPr>
            <a:r>
              <a:rPr lang="en-CA" sz="900"/>
              <a:t>Fast and resource-efficient</a:t>
            </a:r>
            <a:endParaRPr sz="900"/>
          </a:p>
          <a:p>
            <a:pPr marL="457200" lvl="0" indent="-285750" algn="l" rtl="0">
              <a:lnSpc>
                <a:spcPct val="115000"/>
              </a:lnSpc>
              <a:spcBef>
                <a:spcPts val="0"/>
              </a:spcBef>
              <a:spcAft>
                <a:spcPts val="0"/>
              </a:spcAft>
              <a:buSzPts val="900"/>
              <a:buChar char="●"/>
            </a:pPr>
            <a:r>
              <a:rPr lang="en-CA" sz="900"/>
              <a:t>Interpretable architecture</a:t>
            </a:r>
            <a:endParaRPr sz="900"/>
          </a:p>
          <a:p>
            <a:pPr marL="0" lvl="0" indent="0" algn="l" rtl="0">
              <a:lnSpc>
                <a:spcPct val="115000"/>
              </a:lnSpc>
              <a:spcBef>
                <a:spcPts val="1200"/>
              </a:spcBef>
              <a:spcAft>
                <a:spcPts val="0"/>
              </a:spcAft>
              <a:buNone/>
            </a:pPr>
            <a:r>
              <a:rPr lang="en-CA" sz="900"/>
              <a:t>🔹 </a:t>
            </a:r>
            <a:r>
              <a:rPr lang="en-CA" sz="900" b="1"/>
              <a:t>Disadvantages</a:t>
            </a:r>
            <a:r>
              <a:rPr lang="en-CA" sz="900"/>
              <a:t>:</a:t>
            </a:r>
            <a:endParaRPr sz="900"/>
          </a:p>
          <a:p>
            <a:pPr marL="457200" lvl="0" indent="-285750" algn="l" rtl="0">
              <a:lnSpc>
                <a:spcPct val="115000"/>
              </a:lnSpc>
              <a:spcBef>
                <a:spcPts val="1200"/>
              </a:spcBef>
              <a:spcAft>
                <a:spcPts val="0"/>
              </a:spcAft>
              <a:buSzPts val="900"/>
              <a:buChar char="●"/>
            </a:pPr>
            <a:r>
              <a:rPr lang="en-CA" sz="900"/>
              <a:t>Captures contextual semantics only superficially</a:t>
            </a:r>
            <a:endParaRPr sz="900"/>
          </a:p>
          <a:p>
            <a:pPr marL="457200" lvl="0" indent="-285750" algn="l" rtl="0">
              <a:lnSpc>
                <a:spcPct val="115000"/>
              </a:lnSpc>
              <a:spcBef>
                <a:spcPts val="0"/>
              </a:spcBef>
              <a:spcAft>
                <a:spcPts val="0"/>
              </a:spcAft>
              <a:buSzPts val="900"/>
              <a:buChar char="●"/>
            </a:pPr>
            <a:r>
              <a:rPr lang="en-CA" sz="900"/>
              <a:t>Fails to detect subtle affective nuances</a:t>
            </a:r>
            <a:endParaRPr sz="900"/>
          </a:p>
          <a:p>
            <a:pPr marL="0" lvl="0" indent="0" algn="l" rtl="0">
              <a:lnSpc>
                <a:spcPct val="115000"/>
              </a:lnSpc>
              <a:spcBef>
                <a:spcPts val="1200"/>
              </a:spcBef>
              <a:spcAft>
                <a:spcPts val="0"/>
              </a:spcAft>
              <a:buNone/>
            </a:pPr>
            <a:r>
              <a:rPr lang="en-CA" sz="900"/>
              <a:t>⚖️ </a:t>
            </a:r>
            <a:r>
              <a:rPr lang="en-CA" sz="900" b="1"/>
              <a:t>Benchmark Role</a:t>
            </a:r>
            <a:r>
              <a:rPr lang="en-CA" sz="900"/>
              <a:t>: TF-IDF + LR provides a simple yet effective baseline for comparative evaluation.</a:t>
            </a:r>
            <a:endParaRPr sz="900"/>
          </a:p>
          <a:p>
            <a:pPr marL="0" lvl="0" indent="0" algn="l" rtl="0">
              <a:lnSpc>
                <a:spcPct val="115000"/>
              </a:lnSpc>
              <a:spcBef>
                <a:spcPts val="1200"/>
              </a:spcBef>
              <a:spcAft>
                <a:spcPts val="1200"/>
              </a:spcAft>
              <a:buNone/>
            </a:pPr>
            <a:endParaRPr sz="900" b="1"/>
          </a:p>
        </p:txBody>
      </p:sp>
      <p:sp>
        <p:nvSpPr>
          <p:cNvPr id="159" name="Google Shape;159;p22"/>
          <p:cNvSpPr txBox="1"/>
          <p:nvPr/>
        </p:nvSpPr>
        <p:spPr>
          <a:xfrm>
            <a:off x="2014925" y="4599700"/>
            <a:ext cx="5624100" cy="32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CA" sz="932"/>
              <a:t>The outputs of both models were evaluated for both overall </a:t>
            </a:r>
            <a:r>
              <a:rPr lang="en-CA" sz="932" b="1"/>
              <a:t>sentiment and feature-based analysis.</a:t>
            </a:r>
            <a:endParaRPr sz="932"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436375" y="6042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2400">
                <a:latin typeface="Arial"/>
                <a:ea typeface="Arial"/>
                <a:cs typeface="Arial"/>
                <a:sym typeface="Arial"/>
              </a:rPr>
              <a:t>Traning and Evaluation</a:t>
            </a:r>
            <a:endParaRPr sz="2400">
              <a:latin typeface="Arial"/>
              <a:ea typeface="Arial"/>
              <a:cs typeface="Arial"/>
              <a:sym typeface="Arial"/>
            </a:endParaRPr>
          </a:p>
        </p:txBody>
      </p:sp>
      <p:sp>
        <p:nvSpPr>
          <p:cNvPr id="165" name="Google Shape;165;p23"/>
          <p:cNvSpPr txBox="1">
            <a:spLocks noGrp="1"/>
          </p:cNvSpPr>
          <p:nvPr>
            <p:ph type="body" idx="1"/>
          </p:nvPr>
        </p:nvSpPr>
        <p:spPr>
          <a:xfrm>
            <a:off x="474363" y="1215813"/>
            <a:ext cx="3684600" cy="22611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CA" sz="1100">
                <a:solidFill>
                  <a:srgbClr val="000000"/>
                </a:solidFill>
                <a:latin typeface="Arial"/>
                <a:ea typeface="Arial"/>
                <a:cs typeface="Arial"/>
                <a:sym typeface="Arial"/>
              </a:rPr>
              <a:t>The BERT model was fine-tuned with </a:t>
            </a:r>
            <a:r>
              <a:rPr lang="en-CA" sz="1100">
                <a:solidFill>
                  <a:srgbClr val="188038"/>
                </a:solidFill>
                <a:latin typeface="Roboto Mono"/>
                <a:ea typeface="Roboto Mono"/>
                <a:cs typeface="Roboto Mono"/>
                <a:sym typeface="Roboto Mono"/>
              </a:rPr>
              <a:t>train_bert_model(train_df, val_df, num_labels=3)</a:t>
            </a:r>
            <a:r>
              <a:rPr lang="en-CA" sz="1100">
                <a:solidFill>
                  <a:srgbClr val="000000"/>
                </a:solidFill>
                <a:latin typeface="Arial"/>
                <a:ea typeface="Arial"/>
                <a:cs typeface="Arial"/>
                <a:sym typeface="Arial"/>
              </a:rPr>
              <a:t>, saving intermediate checkpoints, and the N-gram–based model was trained with </a:t>
            </a:r>
            <a:r>
              <a:rPr lang="en-CA" sz="1100">
                <a:solidFill>
                  <a:srgbClr val="188038"/>
                </a:solidFill>
                <a:latin typeface="Roboto Mono"/>
                <a:ea typeface="Roboto Mono"/>
                <a:cs typeface="Roboto Mono"/>
                <a:sym typeface="Roboto Mono"/>
              </a:rPr>
              <a:t>train_ngram_model(train_df, val_df, output_dir, aspect_cols, ngram_range=(1,1), max_features=2000)</a:t>
            </a:r>
            <a:r>
              <a:rPr lang="en-CA" sz="1100">
                <a:solidFill>
                  <a:srgbClr val="000000"/>
                </a:solidFill>
                <a:latin typeface="Arial"/>
                <a:ea typeface="Arial"/>
                <a:cs typeface="Arial"/>
                <a:sym typeface="Arial"/>
              </a:rPr>
              <a:t>, using TF-IDF and logistic regression, then saving both the model and the vectorizer.</a:t>
            </a:r>
            <a:endParaRPr>
              <a:solidFill>
                <a:schemeClr val="dk2"/>
              </a:solidFill>
              <a:latin typeface="Arial"/>
              <a:ea typeface="Arial"/>
              <a:cs typeface="Arial"/>
              <a:sym typeface="Arial"/>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166" name="Google Shape;166;p23"/>
          <p:cNvPicPr preferRelativeResize="0"/>
          <p:nvPr/>
        </p:nvPicPr>
        <p:blipFill>
          <a:blip r:embed="rId3">
            <a:alphaModFix/>
          </a:blip>
          <a:stretch>
            <a:fillRect/>
          </a:stretch>
        </p:blipFill>
        <p:spPr>
          <a:xfrm>
            <a:off x="5336675" y="3440062"/>
            <a:ext cx="2602449" cy="1463874"/>
          </a:xfrm>
          <a:prstGeom prst="rect">
            <a:avLst/>
          </a:prstGeom>
          <a:noFill/>
          <a:ln w="9525" cap="flat" cmpd="sng">
            <a:solidFill>
              <a:schemeClr val="dk2"/>
            </a:solidFill>
            <a:prstDash val="solid"/>
            <a:round/>
            <a:headEnd type="none" w="sm" len="sm"/>
            <a:tailEnd type="none" w="sm" len="sm"/>
          </a:ln>
        </p:spPr>
      </p:pic>
      <p:pic>
        <p:nvPicPr>
          <p:cNvPr id="167" name="Google Shape;167;p23"/>
          <p:cNvPicPr preferRelativeResize="0"/>
          <p:nvPr/>
        </p:nvPicPr>
        <p:blipFill>
          <a:blip r:embed="rId4">
            <a:alphaModFix/>
          </a:blip>
          <a:stretch>
            <a:fillRect/>
          </a:stretch>
        </p:blipFill>
        <p:spPr>
          <a:xfrm>
            <a:off x="707925" y="3553258"/>
            <a:ext cx="3217476" cy="1237500"/>
          </a:xfrm>
          <a:prstGeom prst="rect">
            <a:avLst/>
          </a:prstGeom>
          <a:noFill/>
          <a:ln w="9525" cap="flat" cmpd="sng">
            <a:solidFill>
              <a:schemeClr val="dk2"/>
            </a:solidFill>
            <a:prstDash val="solid"/>
            <a:round/>
            <a:headEnd type="none" w="sm" len="sm"/>
            <a:tailEnd type="none" w="sm" len="sm"/>
          </a:ln>
        </p:spPr>
      </p:pic>
      <p:sp>
        <p:nvSpPr>
          <p:cNvPr id="168" name="Google Shape;168;p23"/>
          <p:cNvSpPr txBox="1">
            <a:spLocks noGrp="1"/>
          </p:cNvSpPr>
          <p:nvPr>
            <p:ph type="body" idx="1"/>
          </p:nvPr>
        </p:nvSpPr>
        <p:spPr>
          <a:xfrm>
            <a:off x="4702250" y="1139475"/>
            <a:ext cx="36846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CA" sz="1100">
                <a:solidFill>
                  <a:srgbClr val="000000"/>
                </a:solidFill>
                <a:latin typeface="Arial"/>
                <a:ea typeface="Arial"/>
                <a:cs typeface="Arial"/>
                <a:sym typeface="Arial"/>
              </a:rPr>
              <a:t>The BERT model is evaluated on the validation set with accuracy, F1, and a confusion matrix, while the n-gram–based model—using </a:t>
            </a:r>
            <a:r>
              <a:rPr lang="en-CA" sz="1100">
                <a:solidFill>
                  <a:srgbClr val="188038"/>
                </a:solidFill>
                <a:latin typeface="Roboto Mono"/>
                <a:ea typeface="Roboto Mono"/>
                <a:cs typeface="Roboto Mono"/>
                <a:sym typeface="Roboto Mono"/>
              </a:rPr>
              <a:t>evaluate_ngram_model</a:t>
            </a:r>
            <a:r>
              <a:rPr lang="en-CA" sz="1100">
                <a:solidFill>
                  <a:srgbClr val="000000"/>
                </a:solidFill>
                <a:latin typeface="Arial"/>
                <a:ea typeface="Arial"/>
                <a:cs typeface="Arial"/>
                <a:sym typeface="Arial"/>
              </a:rPr>
              <a:t>—reports feature-level accuracy, macro-F1, precision, and recall. For visualization, the BERT model’s training/validation loss and accuracy curves are plotted; the n-gram model’s feature-level metrics are shown as bar charts; and finally, sample predictions from both models are compared with the true labels.</a:t>
            </a:r>
            <a:endParaRPr>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4"/>
          <p:cNvSpPr txBox="1">
            <a:spLocks noGrp="1"/>
          </p:cNvSpPr>
          <p:nvPr>
            <p:ph type="title"/>
          </p:nvPr>
        </p:nvSpPr>
        <p:spPr>
          <a:xfrm>
            <a:off x="660275" y="5805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sz="2400">
                <a:latin typeface="Arial"/>
                <a:ea typeface="Arial"/>
                <a:cs typeface="Arial"/>
                <a:sym typeface="Arial"/>
              </a:rPr>
              <a:t>About of Ngram</a:t>
            </a:r>
            <a:endParaRPr sz="2400">
              <a:latin typeface="Arial"/>
              <a:ea typeface="Arial"/>
              <a:cs typeface="Arial"/>
              <a:sym typeface="Arial"/>
            </a:endParaRPr>
          </a:p>
          <a:p>
            <a:pPr marL="0" lvl="0" indent="0" algn="l" rtl="0">
              <a:spcBef>
                <a:spcPts val="0"/>
              </a:spcBef>
              <a:spcAft>
                <a:spcPts val="0"/>
              </a:spcAft>
              <a:buNone/>
            </a:pPr>
            <a:endParaRPr/>
          </a:p>
        </p:txBody>
      </p:sp>
      <p:sp>
        <p:nvSpPr>
          <p:cNvPr id="174" name="Google Shape;174;p24"/>
          <p:cNvSpPr txBox="1">
            <a:spLocks noGrp="1"/>
          </p:cNvSpPr>
          <p:nvPr>
            <p:ph type="body" idx="1"/>
          </p:nvPr>
        </p:nvSpPr>
        <p:spPr>
          <a:xfrm>
            <a:off x="202628" y="1279400"/>
            <a:ext cx="94764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CA">
                <a:solidFill>
                  <a:schemeClr val="dk2"/>
                </a:solidFill>
                <a:latin typeface="Arial"/>
                <a:ea typeface="Arial"/>
                <a:cs typeface="Arial"/>
                <a:sym typeface="Arial"/>
              </a:rPr>
              <a:t>The model’s performance was evaluated using Accuracy,Macro F1-Score, Macro Precision, and Macro Recall for each dimension. The key strengths and weaknesses are summarized below:</a:t>
            </a:r>
            <a:endParaRPr>
              <a:solidFill>
                <a:schemeClr val="dk2"/>
              </a:solidFill>
              <a:latin typeface="Arial"/>
              <a:ea typeface="Arial"/>
              <a:cs typeface="Arial"/>
              <a:sym typeface="Arial"/>
            </a:endParaRPr>
          </a:p>
        </p:txBody>
      </p:sp>
      <p:pic>
        <p:nvPicPr>
          <p:cNvPr id="175" name="Google Shape;175;p24" title="ngram(1).png"/>
          <p:cNvPicPr preferRelativeResize="0"/>
          <p:nvPr/>
        </p:nvPicPr>
        <p:blipFill>
          <a:blip r:embed="rId3">
            <a:alphaModFix/>
          </a:blip>
          <a:stretch>
            <a:fillRect/>
          </a:stretch>
        </p:blipFill>
        <p:spPr>
          <a:xfrm>
            <a:off x="1416325" y="1949000"/>
            <a:ext cx="6065859" cy="3009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xfrm>
            <a:off x="335800" y="5070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2400">
                <a:latin typeface="Arial"/>
                <a:ea typeface="Arial"/>
                <a:cs typeface="Arial"/>
                <a:sym typeface="Arial"/>
              </a:rPr>
              <a:t>About of Ngram continued</a:t>
            </a:r>
            <a:endParaRPr sz="2400">
              <a:latin typeface="Arial"/>
              <a:ea typeface="Arial"/>
              <a:cs typeface="Arial"/>
              <a:sym typeface="Arial"/>
            </a:endParaRPr>
          </a:p>
        </p:txBody>
      </p:sp>
      <p:sp>
        <p:nvSpPr>
          <p:cNvPr id="181" name="Google Shape;181;p25"/>
          <p:cNvSpPr txBox="1">
            <a:spLocks noGrp="1"/>
          </p:cNvSpPr>
          <p:nvPr>
            <p:ph type="body" idx="1"/>
          </p:nvPr>
        </p:nvSpPr>
        <p:spPr>
          <a:xfrm>
            <a:off x="5451200" y="1406600"/>
            <a:ext cx="3351300" cy="32586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CA" sz="1000">
                <a:solidFill>
                  <a:schemeClr val="dk2"/>
                </a:solidFill>
                <a:latin typeface="Arial"/>
                <a:ea typeface="Arial"/>
                <a:cs typeface="Arial"/>
                <a:sym typeface="Arial"/>
              </a:rPr>
              <a:t>Many reviews have been labeled as “Neutral” for most dimensions. The limited number of positive and negative examples makes it difficult for the model to learn meaningful patterns for these classes.</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Dimensions such as AI, Story, and Community are often not explicitly mentioned in the text. In such cases, accurate classification is particularly challenging for models that do not capture contextual meaning (e.g., n-gram-based models).</a:t>
            </a:r>
            <a:endParaRPr sz="1000">
              <a:solidFill>
                <a:schemeClr val="dk2"/>
              </a:solidFill>
              <a:latin typeface="Arial"/>
              <a:ea typeface="Arial"/>
              <a:cs typeface="Arial"/>
              <a:sym typeface="Arial"/>
            </a:endParaRPr>
          </a:p>
          <a:p>
            <a:pPr marL="0" lvl="0" indent="0" algn="l" rtl="0">
              <a:spcBef>
                <a:spcPts val="1200"/>
              </a:spcBef>
              <a:spcAft>
                <a:spcPts val="0"/>
              </a:spcAft>
              <a:buNone/>
            </a:pPr>
            <a:r>
              <a:rPr lang="en-CA" sz="1000">
                <a:solidFill>
                  <a:schemeClr val="dk2"/>
                </a:solidFill>
                <a:latin typeface="Arial"/>
                <a:ea typeface="Arial"/>
                <a:cs typeface="Arial"/>
                <a:sym typeface="Arial"/>
              </a:rPr>
              <a:t>The n-gram TF-IDF representation used is sparse and lacks contextual awareness. Therefore, semantically rich expressions such as “The story was complex” or comments containing irony/sarcasm cannot be analyzed correctly.</a:t>
            </a:r>
            <a:endParaRPr sz="1000">
              <a:solidFill>
                <a:schemeClr val="dk2"/>
              </a:solidFill>
              <a:latin typeface="Arial"/>
              <a:ea typeface="Arial"/>
              <a:cs typeface="Arial"/>
              <a:sym typeface="Arial"/>
            </a:endParaRPr>
          </a:p>
          <a:p>
            <a:pPr marL="0" lvl="0" indent="0" algn="l" rtl="0">
              <a:spcBef>
                <a:spcPts val="1200"/>
              </a:spcBef>
              <a:spcAft>
                <a:spcPts val="1200"/>
              </a:spcAft>
              <a:buNone/>
            </a:pPr>
            <a:endParaRPr sz="1000">
              <a:solidFill>
                <a:schemeClr val="dk2"/>
              </a:solidFill>
              <a:latin typeface="Arial"/>
              <a:ea typeface="Arial"/>
              <a:cs typeface="Arial"/>
              <a:sym typeface="Arial"/>
            </a:endParaRPr>
          </a:p>
        </p:txBody>
      </p:sp>
      <p:pic>
        <p:nvPicPr>
          <p:cNvPr id="182" name="Google Shape;182;p25" title="low(1).png"/>
          <p:cNvPicPr preferRelativeResize="0"/>
          <p:nvPr/>
        </p:nvPicPr>
        <p:blipFill>
          <a:blip r:embed="rId3">
            <a:alphaModFix/>
          </a:blip>
          <a:stretch>
            <a:fillRect/>
          </a:stretch>
        </p:blipFill>
        <p:spPr>
          <a:xfrm>
            <a:off x="174325" y="1221375"/>
            <a:ext cx="5029899" cy="1666900"/>
          </a:xfrm>
          <a:prstGeom prst="rect">
            <a:avLst/>
          </a:prstGeom>
          <a:noFill/>
          <a:ln>
            <a:noFill/>
          </a:ln>
        </p:spPr>
      </p:pic>
      <p:pic>
        <p:nvPicPr>
          <p:cNvPr id="183" name="Google Shape;183;p25" title="strong(1).png"/>
          <p:cNvPicPr preferRelativeResize="0"/>
          <p:nvPr/>
        </p:nvPicPr>
        <p:blipFill>
          <a:blip r:embed="rId4">
            <a:alphaModFix/>
          </a:blip>
          <a:stretch>
            <a:fillRect/>
          </a:stretch>
        </p:blipFill>
        <p:spPr>
          <a:xfrm>
            <a:off x="739424" y="2992050"/>
            <a:ext cx="4125327" cy="1865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6"/>
          <p:cNvSpPr txBox="1">
            <a:spLocks noGrp="1"/>
          </p:cNvSpPr>
          <p:nvPr>
            <p:ph type="body" idx="1"/>
          </p:nvPr>
        </p:nvSpPr>
        <p:spPr>
          <a:xfrm>
            <a:off x="273750" y="1399125"/>
            <a:ext cx="2978700" cy="3411900"/>
          </a:xfrm>
          <a:prstGeom prst="rect">
            <a:avLst/>
          </a:prstGeom>
        </p:spPr>
        <p:txBody>
          <a:bodyPr spcFirstLastPara="1" wrap="square" lIns="91425" tIns="91425" rIns="91425" bIns="91425" anchor="t" anchorCtr="0">
            <a:noAutofit/>
          </a:bodyPr>
          <a:lstStyle/>
          <a:p>
            <a:pPr marL="0" lvl="0" indent="0" algn="l" rtl="0">
              <a:lnSpc>
                <a:spcPct val="105000"/>
              </a:lnSpc>
              <a:spcBef>
                <a:spcPts val="1200"/>
              </a:spcBef>
              <a:spcAft>
                <a:spcPts val="0"/>
              </a:spcAft>
              <a:buSzPts val="358"/>
              <a:buNone/>
            </a:pPr>
            <a:r>
              <a:rPr lang="en-CA" sz="857" b="1">
                <a:solidFill>
                  <a:srgbClr val="000000"/>
                </a:solidFill>
                <a:latin typeface="Arial"/>
                <a:ea typeface="Arial"/>
                <a:cs typeface="Arial"/>
                <a:sym typeface="Arial"/>
              </a:rPr>
              <a:t>What is BERT?</a:t>
            </a:r>
            <a:endParaRPr sz="857" b="1">
              <a:solidFill>
                <a:srgbClr val="000000"/>
              </a:solidFill>
              <a:latin typeface="Arial"/>
              <a:ea typeface="Arial"/>
              <a:cs typeface="Arial"/>
              <a:sym typeface="Arial"/>
            </a:endParaRPr>
          </a:p>
          <a:p>
            <a:pPr marL="457200" lvl="0" indent="-283051" algn="l" rtl="0">
              <a:lnSpc>
                <a:spcPct val="105000"/>
              </a:lnSpc>
              <a:spcBef>
                <a:spcPts val="1200"/>
              </a:spcBef>
              <a:spcAft>
                <a:spcPts val="0"/>
              </a:spcAft>
              <a:buClr>
                <a:srgbClr val="000000"/>
              </a:buClr>
              <a:buSzPts val="858"/>
              <a:buFont typeface="Arial"/>
              <a:buChar char="●"/>
            </a:pPr>
            <a:r>
              <a:rPr lang="en-CA" sz="857">
                <a:solidFill>
                  <a:srgbClr val="000000"/>
                </a:solidFill>
                <a:latin typeface="Arial"/>
                <a:ea typeface="Arial"/>
                <a:cs typeface="Arial"/>
                <a:sym typeface="Arial"/>
              </a:rPr>
              <a:t>Pre-trained language model by Devlin et al.</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Uses bidirectional Transformer architecture</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Captures context effectively (syntax, semantics, sentiment)</a:t>
            </a:r>
            <a:endParaRPr sz="857">
              <a:solidFill>
                <a:srgbClr val="000000"/>
              </a:solidFill>
              <a:latin typeface="Arial"/>
              <a:ea typeface="Arial"/>
              <a:cs typeface="Arial"/>
              <a:sym typeface="Arial"/>
            </a:endParaRPr>
          </a:p>
          <a:p>
            <a:pPr marL="0" lvl="0" indent="0" algn="l" rtl="0">
              <a:lnSpc>
                <a:spcPct val="105000"/>
              </a:lnSpc>
              <a:spcBef>
                <a:spcPts val="1200"/>
              </a:spcBef>
              <a:spcAft>
                <a:spcPts val="0"/>
              </a:spcAft>
              <a:buSzPts val="358"/>
              <a:buNone/>
            </a:pPr>
            <a:r>
              <a:rPr lang="en-CA" sz="857" b="1">
                <a:solidFill>
                  <a:srgbClr val="000000"/>
                </a:solidFill>
                <a:latin typeface="Arial"/>
                <a:ea typeface="Arial"/>
                <a:cs typeface="Arial"/>
                <a:sym typeface="Arial"/>
              </a:rPr>
              <a:t>Advantages:</a:t>
            </a:r>
            <a:endParaRPr sz="857" b="1">
              <a:solidFill>
                <a:srgbClr val="000000"/>
              </a:solidFill>
              <a:latin typeface="Arial"/>
              <a:ea typeface="Arial"/>
              <a:cs typeface="Arial"/>
              <a:sym typeface="Arial"/>
            </a:endParaRPr>
          </a:p>
          <a:p>
            <a:pPr marL="457200" lvl="0" indent="-283051" algn="l" rtl="0">
              <a:lnSpc>
                <a:spcPct val="105000"/>
              </a:lnSpc>
              <a:spcBef>
                <a:spcPts val="1200"/>
              </a:spcBef>
              <a:spcAft>
                <a:spcPts val="0"/>
              </a:spcAft>
              <a:buClr>
                <a:srgbClr val="000000"/>
              </a:buClr>
              <a:buSzPts val="858"/>
              <a:buFont typeface="Arial"/>
              <a:buChar char="●"/>
            </a:pPr>
            <a:r>
              <a:rPr lang="en-CA" sz="857">
                <a:solidFill>
                  <a:srgbClr val="000000"/>
                </a:solidFill>
                <a:latin typeface="Arial"/>
                <a:ea typeface="Arial"/>
                <a:cs typeface="Arial"/>
                <a:sym typeface="Arial"/>
              </a:rPr>
              <a:t>High contextual understanding</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Adaptable to various NLP tasks</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Effective in languages like Turkish</a:t>
            </a:r>
            <a:endParaRPr sz="857">
              <a:solidFill>
                <a:srgbClr val="000000"/>
              </a:solidFill>
              <a:latin typeface="Arial"/>
              <a:ea typeface="Arial"/>
              <a:cs typeface="Arial"/>
              <a:sym typeface="Arial"/>
            </a:endParaRPr>
          </a:p>
          <a:p>
            <a:pPr marL="0" lvl="0" indent="0" algn="l" rtl="0">
              <a:lnSpc>
                <a:spcPct val="105000"/>
              </a:lnSpc>
              <a:spcBef>
                <a:spcPts val="1200"/>
              </a:spcBef>
              <a:spcAft>
                <a:spcPts val="0"/>
              </a:spcAft>
              <a:buSzPts val="358"/>
              <a:buNone/>
            </a:pPr>
            <a:r>
              <a:rPr lang="en-CA" sz="857" b="1">
                <a:solidFill>
                  <a:srgbClr val="000000"/>
                </a:solidFill>
                <a:latin typeface="Arial"/>
                <a:ea typeface="Arial"/>
                <a:cs typeface="Arial"/>
                <a:sym typeface="Arial"/>
              </a:rPr>
              <a:t>Challenges:</a:t>
            </a:r>
            <a:endParaRPr sz="857" b="1">
              <a:solidFill>
                <a:srgbClr val="000000"/>
              </a:solidFill>
              <a:latin typeface="Arial"/>
              <a:ea typeface="Arial"/>
              <a:cs typeface="Arial"/>
              <a:sym typeface="Arial"/>
            </a:endParaRPr>
          </a:p>
          <a:p>
            <a:pPr marL="457200" lvl="0" indent="-283051" algn="l" rtl="0">
              <a:lnSpc>
                <a:spcPct val="105000"/>
              </a:lnSpc>
              <a:spcBef>
                <a:spcPts val="1200"/>
              </a:spcBef>
              <a:spcAft>
                <a:spcPts val="0"/>
              </a:spcAft>
              <a:buClr>
                <a:srgbClr val="000000"/>
              </a:buClr>
              <a:buSzPts val="858"/>
              <a:buFont typeface="Arial"/>
              <a:buChar char="●"/>
            </a:pPr>
            <a:r>
              <a:rPr lang="en-CA" sz="857">
                <a:solidFill>
                  <a:srgbClr val="000000"/>
                </a:solidFill>
                <a:latin typeface="Arial"/>
                <a:ea typeface="Arial"/>
                <a:cs typeface="Arial"/>
                <a:sym typeface="Arial"/>
              </a:rPr>
              <a:t>High computational cost</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Reduced interpretability</a:t>
            </a:r>
            <a:endParaRPr sz="857">
              <a:solidFill>
                <a:srgbClr val="000000"/>
              </a:solidFill>
              <a:latin typeface="Arial"/>
              <a:ea typeface="Arial"/>
              <a:cs typeface="Arial"/>
              <a:sym typeface="Arial"/>
            </a:endParaRPr>
          </a:p>
          <a:p>
            <a:pPr marL="0" lvl="0" indent="0" algn="l" rtl="0">
              <a:lnSpc>
                <a:spcPct val="105000"/>
              </a:lnSpc>
              <a:spcBef>
                <a:spcPts val="1200"/>
              </a:spcBef>
              <a:spcAft>
                <a:spcPts val="0"/>
              </a:spcAft>
              <a:buSzPts val="358"/>
              <a:buNone/>
            </a:pPr>
            <a:r>
              <a:rPr lang="en-CA" sz="857" b="1">
                <a:solidFill>
                  <a:srgbClr val="000000"/>
                </a:solidFill>
                <a:latin typeface="Arial"/>
                <a:ea typeface="Arial"/>
                <a:cs typeface="Arial"/>
                <a:sym typeface="Arial"/>
              </a:rPr>
              <a:t>Training &amp; Evaluation:</a:t>
            </a:r>
            <a:endParaRPr sz="857" b="1">
              <a:solidFill>
                <a:srgbClr val="000000"/>
              </a:solidFill>
              <a:latin typeface="Arial"/>
              <a:ea typeface="Arial"/>
              <a:cs typeface="Arial"/>
              <a:sym typeface="Arial"/>
            </a:endParaRPr>
          </a:p>
          <a:p>
            <a:pPr marL="457200" lvl="0" indent="-283051" algn="l" rtl="0">
              <a:lnSpc>
                <a:spcPct val="105000"/>
              </a:lnSpc>
              <a:spcBef>
                <a:spcPts val="1200"/>
              </a:spcBef>
              <a:spcAft>
                <a:spcPts val="0"/>
              </a:spcAft>
              <a:buClr>
                <a:srgbClr val="000000"/>
              </a:buClr>
              <a:buSzPts val="858"/>
              <a:buFont typeface="Arial"/>
              <a:buChar char="●"/>
            </a:pPr>
            <a:r>
              <a:rPr lang="en-CA" sz="857">
                <a:solidFill>
                  <a:srgbClr val="000000"/>
                </a:solidFill>
                <a:latin typeface="Arial"/>
                <a:ea typeface="Arial"/>
                <a:cs typeface="Arial"/>
                <a:sym typeface="Arial"/>
              </a:rPr>
              <a:t>Training loss: 0.1886 → 0.0776 (epoch 1 to 3)</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Validation loss: 0.0966 → 0.0855</a:t>
            </a:r>
            <a:endParaRPr sz="857">
              <a:solidFill>
                <a:srgbClr val="000000"/>
              </a:solidFill>
              <a:latin typeface="Arial"/>
              <a:ea typeface="Arial"/>
              <a:cs typeface="Arial"/>
              <a:sym typeface="Arial"/>
            </a:endParaRPr>
          </a:p>
          <a:p>
            <a:pPr marL="457200" lvl="0" indent="-283051" algn="l" rtl="0">
              <a:lnSpc>
                <a:spcPct val="105000"/>
              </a:lnSpc>
              <a:spcBef>
                <a:spcPts val="0"/>
              </a:spcBef>
              <a:spcAft>
                <a:spcPts val="0"/>
              </a:spcAft>
              <a:buClr>
                <a:srgbClr val="000000"/>
              </a:buClr>
              <a:buSzPts val="858"/>
              <a:buFont typeface="Arial"/>
              <a:buChar char="●"/>
            </a:pPr>
            <a:r>
              <a:rPr lang="en-CA" sz="857">
                <a:solidFill>
                  <a:srgbClr val="000000"/>
                </a:solidFill>
                <a:latin typeface="Arial"/>
                <a:ea typeface="Arial"/>
                <a:cs typeface="Arial"/>
                <a:sym typeface="Arial"/>
              </a:rPr>
              <a:t>Accuracy reached 97.6%</a:t>
            </a:r>
            <a:endParaRPr sz="922"/>
          </a:p>
        </p:txBody>
      </p:sp>
      <p:sp>
        <p:nvSpPr>
          <p:cNvPr id="189" name="Google Shape;189;p26"/>
          <p:cNvSpPr txBox="1">
            <a:spLocks noGrp="1"/>
          </p:cNvSpPr>
          <p:nvPr>
            <p:ph type="title"/>
          </p:nvPr>
        </p:nvSpPr>
        <p:spPr>
          <a:xfrm>
            <a:off x="673450" y="6465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sz="2400">
                <a:latin typeface="Arial"/>
                <a:ea typeface="Arial"/>
                <a:cs typeface="Arial"/>
                <a:sym typeface="Arial"/>
              </a:rPr>
              <a:t>About of BERT</a:t>
            </a:r>
            <a:endParaRPr sz="2400">
              <a:latin typeface="Arial"/>
              <a:ea typeface="Arial"/>
              <a:cs typeface="Arial"/>
              <a:sym typeface="Arial"/>
            </a:endParaRPr>
          </a:p>
        </p:txBody>
      </p:sp>
      <p:pic>
        <p:nvPicPr>
          <p:cNvPr id="190" name="Google Shape;190;p26"/>
          <p:cNvPicPr preferRelativeResize="0"/>
          <p:nvPr/>
        </p:nvPicPr>
        <p:blipFill>
          <a:blip r:embed="rId3">
            <a:alphaModFix/>
          </a:blip>
          <a:stretch>
            <a:fillRect/>
          </a:stretch>
        </p:blipFill>
        <p:spPr>
          <a:xfrm>
            <a:off x="4856400" y="762250"/>
            <a:ext cx="2634825" cy="2453875"/>
          </a:xfrm>
          <a:prstGeom prst="rect">
            <a:avLst/>
          </a:prstGeom>
          <a:noFill/>
          <a:ln>
            <a:noFill/>
          </a:ln>
        </p:spPr>
      </p:pic>
      <p:pic>
        <p:nvPicPr>
          <p:cNvPr id="191" name="Google Shape;191;p26"/>
          <p:cNvPicPr preferRelativeResize="0"/>
          <p:nvPr/>
        </p:nvPicPr>
        <p:blipFill>
          <a:blip r:embed="rId4">
            <a:alphaModFix/>
          </a:blip>
          <a:stretch>
            <a:fillRect/>
          </a:stretch>
        </p:blipFill>
        <p:spPr>
          <a:xfrm>
            <a:off x="4461300" y="3362150"/>
            <a:ext cx="3551225" cy="129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727650" y="5998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CA">
                <a:latin typeface="Arial"/>
                <a:ea typeface="Arial"/>
                <a:cs typeface="Arial"/>
                <a:sym typeface="Arial"/>
              </a:rPr>
              <a:t>Conclusion</a:t>
            </a:r>
            <a:endParaRPr>
              <a:latin typeface="Arial"/>
              <a:ea typeface="Arial"/>
              <a:cs typeface="Arial"/>
              <a:sym typeface="Arial"/>
            </a:endParaRPr>
          </a:p>
        </p:txBody>
      </p:sp>
      <p:sp>
        <p:nvSpPr>
          <p:cNvPr id="197" name="Google Shape;197;p27"/>
          <p:cNvSpPr txBox="1">
            <a:spLocks noGrp="1"/>
          </p:cNvSpPr>
          <p:nvPr>
            <p:ph type="body" idx="1"/>
          </p:nvPr>
        </p:nvSpPr>
        <p:spPr>
          <a:xfrm>
            <a:off x="251675" y="1408625"/>
            <a:ext cx="3531000" cy="3581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sz="2250" b="1">
                <a:solidFill>
                  <a:schemeClr val="dk2"/>
                </a:solidFill>
                <a:latin typeface="Arial"/>
                <a:ea typeface="Arial"/>
                <a:cs typeface="Arial"/>
                <a:sym typeface="Arial"/>
              </a:rPr>
              <a:t>Ngram</a:t>
            </a:r>
            <a:endParaRPr sz="2250" b="1">
              <a:solidFill>
                <a:schemeClr val="dk2"/>
              </a:solidFill>
              <a:latin typeface="Arial"/>
              <a:ea typeface="Arial"/>
              <a:cs typeface="Arial"/>
              <a:sym typeface="Arial"/>
            </a:endParaRPr>
          </a:p>
          <a:p>
            <a:pPr marL="0" lvl="0" indent="0" algn="l" rtl="0">
              <a:spcBef>
                <a:spcPts val="1200"/>
              </a:spcBef>
              <a:spcAft>
                <a:spcPts val="0"/>
              </a:spcAft>
              <a:buNone/>
            </a:pPr>
            <a:r>
              <a:rPr lang="en-CA" sz="800">
                <a:solidFill>
                  <a:schemeClr val="dk2"/>
                </a:solidFill>
                <a:latin typeface="Arial"/>
                <a:ea typeface="Arial"/>
                <a:cs typeface="Arial"/>
                <a:sym typeface="Arial"/>
              </a:rPr>
              <a:t>To improve model performance on underrepresented labels like </a:t>
            </a:r>
            <a:r>
              <a:rPr lang="en-CA" sz="800" i="1">
                <a:solidFill>
                  <a:schemeClr val="dk2"/>
                </a:solidFill>
                <a:latin typeface="Arial"/>
                <a:ea typeface="Arial"/>
                <a:cs typeface="Arial"/>
                <a:sym typeface="Arial"/>
              </a:rPr>
              <a:t>AI</a:t>
            </a:r>
            <a:r>
              <a:rPr lang="en-CA" sz="800">
                <a:solidFill>
                  <a:schemeClr val="dk2"/>
                </a:solidFill>
                <a:latin typeface="Arial"/>
                <a:ea typeface="Arial"/>
                <a:cs typeface="Arial"/>
                <a:sym typeface="Arial"/>
              </a:rPr>
              <a:t> and </a:t>
            </a:r>
            <a:r>
              <a:rPr lang="en-CA" sz="800" i="1">
                <a:solidFill>
                  <a:schemeClr val="dk2"/>
                </a:solidFill>
                <a:latin typeface="Arial"/>
                <a:ea typeface="Arial"/>
                <a:cs typeface="Arial"/>
                <a:sym typeface="Arial"/>
              </a:rPr>
              <a:t>Community</a:t>
            </a:r>
            <a:r>
              <a:rPr lang="en-CA" sz="800">
                <a:solidFill>
                  <a:schemeClr val="dk2"/>
                </a:solidFill>
                <a:latin typeface="Arial"/>
                <a:ea typeface="Arial"/>
                <a:cs typeface="Arial"/>
                <a:sym typeface="Arial"/>
              </a:rPr>
              <a:t>, class weighting or data balancing techniques (e.g., SMOTE, stratified sampling) can be employed. Since n-gram TF-IDF lacks contextual understanding, using contextual embeddings such as BERT, RoBERTa, or Sentence-BERT is recommended for better sentiment capture.</a:t>
            </a:r>
            <a:endParaRPr sz="800">
              <a:solidFill>
                <a:schemeClr val="dk2"/>
              </a:solidFill>
              <a:latin typeface="Arial"/>
              <a:ea typeface="Arial"/>
              <a:cs typeface="Arial"/>
              <a:sym typeface="Arial"/>
            </a:endParaRPr>
          </a:p>
          <a:p>
            <a:pPr marL="0" lvl="0" indent="0" algn="l" rtl="0">
              <a:spcBef>
                <a:spcPts val="1200"/>
              </a:spcBef>
              <a:spcAft>
                <a:spcPts val="0"/>
              </a:spcAft>
              <a:buNone/>
            </a:pPr>
            <a:r>
              <a:rPr lang="en-CA" sz="800">
                <a:solidFill>
                  <a:schemeClr val="dk2"/>
                </a:solidFill>
                <a:latin typeface="Arial"/>
                <a:ea typeface="Arial"/>
                <a:cs typeface="Arial"/>
                <a:sym typeface="Arial"/>
              </a:rPr>
              <a:t>Training separate models for each aspect can reduce multi-label complexity and enhance accuracy. Additionally, increasing labeled examples—particularly for low-frequency aspects—and analyzing false predictions can reveal overlooked linguistic cues, guiding both preprocessing and model design improvements.</a:t>
            </a:r>
            <a:endParaRPr sz="800">
              <a:solidFill>
                <a:schemeClr val="dk2"/>
              </a:solidFill>
              <a:latin typeface="Arial"/>
              <a:ea typeface="Arial"/>
              <a:cs typeface="Arial"/>
              <a:sym typeface="Arial"/>
            </a:endParaRPr>
          </a:p>
          <a:p>
            <a:pPr marL="0" lvl="0" indent="0" algn="l" rtl="0">
              <a:spcBef>
                <a:spcPts val="1200"/>
              </a:spcBef>
              <a:spcAft>
                <a:spcPts val="0"/>
              </a:spcAft>
              <a:buNone/>
            </a:pPr>
            <a:endParaRPr sz="1600" b="1"/>
          </a:p>
          <a:p>
            <a:pPr marL="0" lvl="0" indent="0" algn="l" rtl="0">
              <a:spcBef>
                <a:spcPts val="1200"/>
              </a:spcBef>
              <a:spcAft>
                <a:spcPts val="1200"/>
              </a:spcAft>
              <a:buNone/>
            </a:pPr>
            <a:endParaRPr sz="1600" b="1"/>
          </a:p>
        </p:txBody>
      </p:sp>
      <p:sp>
        <p:nvSpPr>
          <p:cNvPr id="198" name="Google Shape;198;p27"/>
          <p:cNvSpPr txBox="1">
            <a:spLocks noGrp="1"/>
          </p:cNvSpPr>
          <p:nvPr>
            <p:ph type="body" idx="1"/>
          </p:nvPr>
        </p:nvSpPr>
        <p:spPr>
          <a:xfrm>
            <a:off x="3782675" y="1408625"/>
            <a:ext cx="4949700" cy="319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440"/>
              <a:buNone/>
            </a:pPr>
            <a:r>
              <a:rPr lang="en-CA" sz="2250" b="1">
                <a:solidFill>
                  <a:schemeClr val="dk2"/>
                </a:solidFill>
                <a:latin typeface="Arial"/>
                <a:ea typeface="Arial"/>
                <a:cs typeface="Arial"/>
                <a:sym typeface="Arial"/>
              </a:rPr>
              <a:t>BERT</a:t>
            </a:r>
            <a:endParaRPr sz="2250" b="1">
              <a:solidFill>
                <a:schemeClr val="dk2"/>
              </a:solidFill>
              <a:latin typeface="Arial"/>
              <a:ea typeface="Arial"/>
              <a:cs typeface="Arial"/>
              <a:sym typeface="Arial"/>
            </a:endParaRPr>
          </a:p>
          <a:p>
            <a:pPr marL="0" lvl="0" indent="0" algn="l" rtl="0">
              <a:spcBef>
                <a:spcPts val="1200"/>
              </a:spcBef>
              <a:spcAft>
                <a:spcPts val="0"/>
              </a:spcAft>
              <a:buSzPts val="440"/>
              <a:buNone/>
            </a:pPr>
            <a:r>
              <a:rPr lang="en-CA" sz="839">
                <a:solidFill>
                  <a:schemeClr val="dk2"/>
                </a:solidFill>
                <a:latin typeface="Arial"/>
                <a:ea typeface="Arial"/>
                <a:cs typeface="Arial"/>
                <a:sym typeface="Arial"/>
              </a:rPr>
              <a:t>In this study, we evaluated the BERT model's performance on text classification tasks using a Transformer-based architecture. The results underline BERT's effectiveness in handling text data, especially in scenarios involving limited labeled datasets. Variants such as DistilBERT and RoBERTa, known for efficiency and performance, align with our findings. </a:t>
            </a:r>
            <a:endParaRPr sz="839">
              <a:solidFill>
                <a:schemeClr val="dk2"/>
              </a:solidFill>
              <a:latin typeface="Arial"/>
              <a:ea typeface="Arial"/>
              <a:cs typeface="Arial"/>
              <a:sym typeface="Arial"/>
            </a:endParaRPr>
          </a:p>
          <a:p>
            <a:pPr marL="0" lvl="0" indent="0" algn="l" rtl="0">
              <a:spcBef>
                <a:spcPts val="1200"/>
              </a:spcBef>
              <a:spcAft>
                <a:spcPts val="0"/>
              </a:spcAft>
              <a:buSzPts val="440"/>
              <a:buNone/>
            </a:pPr>
            <a:r>
              <a:rPr lang="en-CA" sz="839" b="1">
                <a:solidFill>
                  <a:schemeClr val="dk2"/>
                </a:solidFill>
                <a:latin typeface="Arial"/>
                <a:ea typeface="Arial"/>
                <a:cs typeface="Arial"/>
                <a:sym typeface="Arial"/>
              </a:rPr>
              <a:t>Future Work Recommendations: </a:t>
            </a:r>
            <a:endParaRPr sz="839" b="1">
              <a:solidFill>
                <a:schemeClr val="dk2"/>
              </a:solidFill>
              <a:latin typeface="Arial"/>
              <a:ea typeface="Arial"/>
              <a:cs typeface="Arial"/>
              <a:sym typeface="Arial"/>
            </a:endParaRPr>
          </a:p>
          <a:p>
            <a:pPr marL="457200" lvl="0" indent="-281940" algn="l" rtl="0">
              <a:spcBef>
                <a:spcPts val="1200"/>
              </a:spcBef>
              <a:spcAft>
                <a:spcPts val="0"/>
              </a:spcAft>
              <a:buClr>
                <a:schemeClr val="dk2"/>
              </a:buClr>
              <a:buSzPts val="840"/>
              <a:buFont typeface="Arial"/>
              <a:buAutoNum type="arabicPeriod"/>
            </a:pPr>
            <a:r>
              <a:rPr lang="en-CA" sz="839">
                <a:solidFill>
                  <a:schemeClr val="dk2"/>
                </a:solidFill>
                <a:latin typeface="Arial"/>
                <a:ea typeface="Arial"/>
                <a:cs typeface="Arial"/>
                <a:sym typeface="Arial"/>
              </a:rPr>
              <a:t>Extended Training: Increase training duration to 5–6 epochs. </a:t>
            </a:r>
            <a:endParaRPr sz="839">
              <a:solidFill>
                <a:schemeClr val="dk2"/>
              </a:solidFill>
              <a:latin typeface="Arial"/>
              <a:ea typeface="Arial"/>
              <a:cs typeface="Arial"/>
              <a:sym typeface="Arial"/>
            </a:endParaRPr>
          </a:p>
          <a:p>
            <a:pPr marL="457200" lvl="0" indent="-281940" algn="l" rtl="0">
              <a:spcBef>
                <a:spcPts val="0"/>
              </a:spcBef>
              <a:spcAft>
                <a:spcPts val="0"/>
              </a:spcAft>
              <a:buClr>
                <a:schemeClr val="dk2"/>
              </a:buClr>
              <a:buSzPts val="840"/>
              <a:buFont typeface="Arial"/>
              <a:buAutoNum type="arabicPeriod"/>
            </a:pPr>
            <a:r>
              <a:rPr lang="en-CA" sz="839">
                <a:solidFill>
                  <a:schemeClr val="dk2"/>
                </a:solidFill>
                <a:latin typeface="Arial"/>
                <a:ea typeface="Arial"/>
                <a:cs typeface="Arial"/>
                <a:sym typeface="Arial"/>
              </a:rPr>
              <a:t>Fine-Tuning Strategies: Experiment with layer freezing, layer-wise learning rates, and learning rate scheduling techniques. </a:t>
            </a:r>
            <a:endParaRPr sz="839">
              <a:solidFill>
                <a:schemeClr val="dk2"/>
              </a:solidFill>
              <a:latin typeface="Arial"/>
              <a:ea typeface="Arial"/>
              <a:cs typeface="Arial"/>
              <a:sym typeface="Arial"/>
            </a:endParaRPr>
          </a:p>
          <a:p>
            <a:pPr marL="457200" lvl="0" indent="-281940" algn="l" rtl="0">
              <a:spcBef>
                <a:spcPts val="0"/>
              </a:spcBef>
              <a:spcAft>
                <a:spcPts val="0"/>
              </a:spcAft>
              <a:buClr>
                <a:schemeClr val="dk2"/>
              </a:buClr>
              <a:buSzPts val="840"/>
              <a:buFont typeface="Arial"/>
              <a:buAutoNum type="arabicPeriod"/>
            </a:pPr>
            <a:r>
              <a:rPr lang="en-CA" sz="839">
                <a:solidFill>
                  <a:schemeClr val="dk2"/>
                </a:solidFill>
                <a:latin typeface="Arial"/>
                <a:ea typeface="Arial"/>
                <a:cs typeface="Arial"/>
                <a:sym typeface="Arial"/>
              </a:rPr>
              <a:t>Generalization Tests: Conduct evaluations across different domains and languages to ensure robustness. </a:t>
            </a:r>
            <a:endParaRPr sz="839">
              <a:solidFill>
                <a:schemeClr val="dk2"/>
              </a:solidFill>
              <a:latin typeface="Arial"/>
              <a:ea typeface="Arial"/>
              <a:cs typeface="Arial"/>
              <a:sym typeface="Arial"/>
            </a:endParaRPr>
          </a:p>
          <a:p>
            <a:pPr marL="457200" lvl="0" indent="-281940" algn="l" rtl="0">
              <a:spcBef>
                <a:spcPts val="0"/>
              </a:spcBef>
              <a:spcAft>
                <a:spcPts val="0"/>
              </a:spcAft>
              <a:buClr>
                <a:schemeClr val="dk2"/>
              </a:buClr>
              <a:buSzPts val="840"/>
              <a:buFont typeface="Arial"/>
              <a:buAutoNum type="arabicPeriod"/>
            </a:pPr>
            <a:r>
              <a:rPr lang="en-CA" sz="839">
                <a:solidFill>
                  <a:schemeClr val="dk2"/>
                </a:solidFill>
                <a:latin typeface="Arial"/>
                <a:ea typeface="Arial"/>
                <a:cs typeface="Arial"/>
                <a:sym typeface="Arial"/>
              </a:rPr>
              <a:t>Lightweight Models: Explore knowledge distillation and quantization for deployment scenarios with latency constraints. </a:t>
            </a:r>
            <a:endParaRPr sz="839">
              <a:solidFill>
                <a:schemeClr val="dk2"/>
              </a:solidFill>
              <a:latin typeface="Arial"/>
              <a:ea typeface="Arial"/>
              <a:cs typeface="Arial"/>
              <a:sym typeface="Arial"/>
            </a:endParaRPr>
          </a:p>
          <a:p>
            <a:pPr marL="0" lvl="0" indent="0" algn="l" rtl="0">
              <a:spcBef>
                <a:spcPts val="1200"/>
              </a:spcBef>
              <a:spcAft>
                <a:spcPts val="1200"/>
              </a:spcAft>
              <a:buSzPts val="440"/>
              <a:buNone/>
            </a:pPr>
            <a:r>
              <a:rPr lang="en-CA" sz="839">
                <a:solidFill>
                  <a:schemeClr val="dk2"/>
                </a:solidFill>
                <a:latin typeface="Arial"/>
                <a:ea typeface="Arial"/>
                <a:cs typeface="Arial"/>
                <a:sym typeface="Arial"/>
              </a:rPr>
              <a:t>Overall, BERT provides a robust and reliable foundation for meeting text processing needs. For access to the complete code used in this project, please visit the provided link.</a:t>
            </a:r>
            <a:endParaRPr sz="839">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8"/>
          <p:cNvSpPr txBox="1">
            <a:spLocks noGrp="1"/>
          </p:cNvSpPr>
          <p:nvPr>
            <p:ph type="body" idx="1"/>
          </p:nvPr>
        </p:nvSpPr>
        <p:spPr>
          <a:xfrm>
            <a:off x="570775" y="144120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CA" sz="3000">
                <a:solidFill>
                  <a:schemeClr val="dk2"/>
                </a:solidFill>
                <a:latin typeface="Arial"/>
                <a:ea typeface="Arial"/>
                <a:cs typeface="Arial"/>
                <a:sym typeface="Arial"/>
              </a:rPr>
              <a:t>THANK YOU </a:t>
            </a:r>
            <a:endParaRPr sz="3000">
              <a:solidFill>
                <a:schemeClr val="dk2"/>
              </a:solidFill>
              <a:latin typeface="Arial"/>
              <a:ea typeface="Arial"/>
              <a:cs typeface="Arial"/>
              <a:sym typeface="Arial"/>
            </a:endParaRPr>
          </a:p>
          <a:p>
            <a:pPr marL="0" lvl="0" indent="0" algn="l" rtl="0">
              <a:spcBef>
                <a:spcPts val="1200"/>
              </a:spcBef>
              <a:spcAft>
                <a:spcPts val="0"/>
              </a:spcAft>
              <a:buNone/>
            </a:pPr>
            <a:r>
              <a:rPr lang="en-CA" sz="3000">
                <a:solidFill>
                  <a:schemeClr val="dk2"/>
                </a:solidFill>
                <a:latin typeface="Arial"/>
                <a:ea typeface="Arial"/>
                <a:cs typeface="Arial"/>
                <a:sym typeface="Arial"/>
              </a:rPr>
              <a:t>FOR </a:t>
            </a:r>
            <a:endParaRPr sz="3000">
              <a:solidFill>
                <a:schemeClr val="dk2"/>
              </a:solidFill>
              <a:latin typeface="Arial"/>
              <a:ea typeface="Arial"/>
              <a:cs typeface="Arial"/>
              <a:sym typeface="Arial"/>
            </a:endParaRPr>
          </a:p>
          <a:p>
            <a:pPr marL="0" lvl="0" indent="0" algn="l" rtl="0">
              <a:spcBef>
                <a:spcPts val="1200"/>
              </a:spcBef>
              <a:spcAft>
                <a:spcPts val="1200"/>
              </a:spcAft>
              <a:buNone/>
            </a:pPr>
            <a:r>
              <a:rPr lang="en-CA" sz="3000">
                <a:solidFill>
                  <a:schemeClr val="dk2"/>
                </a:solidFill>
                <a:latin typeface="Arial"/>
                <a:ea typeface="Arial"/>
                <a:cs typeface="Arial"/>
                <a:sym typeface="Arial"/>
              </a:rPr>
              <a:t>LİSTENİNG!</a:t>
            </a:r>
            <a:endParaRPr sz="3000">
              <a:solidFill>
                <a:schemeClr val="dk2"/>
              </a:solidFill>
              <a:latin typeface="Arial"/>
              <a:ea typeface="Arial"/>
              <a:cs typeface="Arial"/>
              <a:sym typeface="Arial"/>
            </a:endParaRPr>
          </a:p>
        </p:txBody>
      </p:sp>
      <p:pic>
        <p:nvPicPr>
          <p:cNvPr id="204" name="Google Shape;204;p28" descr="Happy face vector illustration icon smile element yellow color with arrow (Provided by Getty Images)"/>
          <p:cNvPicPr preferRelativeResize="0"/>
          <p:nvPr/>
        </p:nvPicPr>
        <p:blipFill>
          <a:blip r:embed="rId3">
            <a:alphaModFix/>
          </a:blip>
          <a:stretch>
            <a:fillRect/>
          </a:stretch>
        </p:blipFill>
        <p:spPr>
          <a:xfrm>
            <a:off x="3982425" y="730275"/>
            <a:ext cx="4413225" cy="4413225"/>
          </a:xfrm>
          <a:prstGeom prst="rect">
            <a:avLst/>
          </a:prstGeom>
          <a:noFill/>
          <a:ln>
            <a:noFill/>
          </a:ln>
        </p:spPr>
      </p:pic>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2073</Words>
  <Application>Microsoft Office PowerPoint</Application>
  <PresentationFormat>On-screen Show (16:9)</PresentationFormat>
  <Paragraphs>139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Roboto Mono</vt:lpstr>
      <vt:lpstr>Lato</vt:lpstr>
      <vt:lpstr>Arial</vt:lpstr>
      <vt:lpstr>Raleway</vt:lpstr>
      <vt:lpstr>Streamline</vt:lpstr>
      <vt:lpstr>Feature-based Sentiment Analysis For Games </vt:lpstr>
      <vt:lpstr>Abstract</vt:lpstr>
      <vt:lpstr>Introduction</vt:lpstr>
      <vt:lpstr>Literature Review</vt:lpstr>
      <vt:lpstr>Data Scrapping</vt:lpstr>
      <vt:lpstr>Data Preprocessing</vt:lpstr>
      <vt:lpstr>Data Labeling</vt:lpstr>
      <vt:lpstr>Labeling Examples</vt:lpstr>
      <vt:lpstr>Models And Algorithms</vt:lpstr>
      <vt:lpstr>Traning and Evaluation</vt:lpstr>
      <vt:lpstr>About of Ngram </vt:lpstr>
      <vt:lpstr>About of Ngram continued</vt:lpstr>
      <vt:lpstr>About of BERT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Demba Sow</cp:lastModifiedBy>
  <cp:revision>3</cp:revision>
  <dcterms:modified xsi:type="dcterms:W3CDTF">2026-02-26T03:56:13Z</dcterms:modified>
</cp:coreProperties>
</file>